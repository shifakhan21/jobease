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17ABC9-03DB-49DB-913E-264A4F552824}">
  <a:tblStyle styleId="{2417ABC9-03DB-49DB-913E-264A4F552824}" styleName="Table_0">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cb275c776_2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3dcb275c776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c74b96caa_2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g3dc74b96caa_2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c74b96caa_2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3dc74b96caa_2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cb275c776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dcb275c776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cb275c776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dcb275c776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lnSpcReduction="20000"/>
          </a:bodyPr>
          <a:lstStyle/>
          <a:p>
            <a:pPr indent="0" lvl="0" marL="0" rtl="0" algn="ctr">
              <a:lnSpc>
                <a:spcPct val="90000"/>
              </a:lnSpc>
              <a:spcBef>
                <a:spcPts val="0"/>
              </a:spcBef>
              <a:spcAft>
                <a:spcPts val="0"/>
              </a:spcAft>
              <a:buClr>
                <a:srgbClr val="7030A0"/>
              </a:buClr>
              <a:buSzPts val="2000"/>
              <a:buNone/>
            </a:pPr>
            <a:r>
              <a:rPr b="1" lang="en-IN" sz="2800">
                <a:solidFill>
                  <a:srgbClr val="7030A0"/>
                </a:solidFill>
              </a:rPr>
              <a:t>Interdisciplinary Insights and Practices for Sustainable Growth</a:t>
            </a:r>
            <a:endParaRPr sz="2800">
              <a:solidFill>
                <a:srgbClr val="7030A0"/>
              </a:solidFill>
            </a:endParaRPr>
          </a:p>
          <a:p>
            <a:pPr indent="0" lvl="0" marL="0" rtl="0" algn="ctr">
              <a:lnSpc>
                <a:spcPct val="90000"/>
              </a:lnSpc>
              <a:spcBef>
                <a:spcPts val="1000"/>
              </a:spcBef>
              <a:spcAft>
                <a:spcPts val="0"/>
              </a:spcAft>
              <a:buClr>
                <a:srgbClr val="7030A0"/>
              </a:buClr>
              <a:buSzPts val="2400"/>
              <a:buNone/>
            </a:pPr>
            <a:r>
              <a:rPr b="1" lang="en-IN">
                <a:solidFill>
                  <a:srgbClr val="7030A0"/>
                </a:solidFill>
              </a:rPr>
              <a:t>(I3PSG 2026)</a:t>
            </a:r>
            <a:endParaRPr/>
          </a:p>
          <a:p>
            <a:pPr indent="0" lvl="0" marL="0" rtl="0" algn="ctr">
              <a:lnSpc>
                <a:spcPct val="90000"/>
              </a:lnSpc>
              <a:spcBef>
                <a:spcPts val="600"/>
              </a:spcBef>
              <a:spcAft>
                <a:spcPts val="0"/>
              </a:spcAft>
              <a:buClr>
                <a:schemeClr val="dk1"/>
              </a:buClr>
              <a:buSzPts val="1400"/>
              <a:buNone/>
            </a:pPr>
            <a:r>
              <a:rPr lang="en-IN" sz="1600">
                <a:solidFill>
                  <a:schemeClr val="dk1"/>
                </a:solidFill>
              </a:rPr>
              <a:t>Organized by</a:t>
            </a:r>
            <a:endParaRPr sz="2800"/>
          </a:p>
          <a:p>
            <a:pPr indent="0" lvl="0" marL="0" rtl="0" algn="ctr">
              <a:lnSpc>
                <a:spcPct val="90000"/>
              </a:lnSpc>
              <a:spcBef>
                <a:spcPts val="600"/>
              </a:spcBef>
              <a:spcAft>
                <a:spcPts val="0"/>
              </a:spcAft>
              <a:buClr>
                <a:srgbClr val="7030A0"/>
              </a:buClr>
              <a:buSzPts val="1600"/>
              <a:buNone/>
            </a:pPr>
            <a:r>
              <a:rPr b="1" lang="en-IN">
                <a:solidFill>
                  <a:srgbClr val="7030A0"/>
                </a:solidFill>
              </a:rPr>
              <a:t>Shivajirao S. Jondhale College of Engineering, Dombivli(East)</a:t>
            </a:r>
            <a:endParaRPr b="1"/>
          </a:p>
          <a:p>
            <a:pPr indent="0" lvl="0" marL="0" rtl="0" algn="ctr">
              <a:lnSpc>
                <a:spcPct val="90000"/>
              </a:lnSpc>
              <a:spcBef>
                <a:spcPts val="600"/>
              </a:spcBef>
              <a:spcAft>
                <a:spcPts val="0"/>
              </a:spcAft>
              <a:buClr>
                <a:srgbClr val="C55A11"/>
              </a:buClr>
              <a:buSzPts val="1400"/>
              <a:buNone/>
            </a:pPr>
            <a:r>
              <a:rPr b="1" lang="en-IN" sz="1600">
                <a:solidFill>
                  <a:srgbClr val="C55A11"/>
                </a:solidFill>
              </a:rPr>
              <a:t>2 nd April, 2026</a:t>
            </a:r>
            <a:endParaRPr b="1" sz="2800"/>
          </a:p>
          <a:p>
            <a:pPr indent="0" lvl="0" marL="0" rtl="0" algn="ctr">
              <a:lnSpc>
                <a:spcPct val="90000"/>
              </a:lnSpc>
              <a:spcBef>
                <a:spcPts val="1000"/>
              </a:spcBef>
              <a:spcAft>
                <a:spcPts val="0"/>
              </a:spcAft>
              <a:buClr>
                <a:schemeClr val="dk1"/>
              </a:buClr>
              <a:buSzPts val="1400"/>
              <a:buNone/>
            </a:pPr>
            <a:r>
              <a:t/>
            </a:r>
            <a:endParaRPr sz="1400"/>
          </a:p>
          <a:p>
            <a:pPr indent="0" lvl="0" marL="0" rtl="0" algn="ctr">
              <a:lnSpc>
                <a:spcPct val="90000"/>
              </a:lnSpc>
              <a:spcBef>
                <a:spcPts val="1000"/>
              </a:spcBef>
              <a:spcAft>
                <a:spcPts val="0"/>
              </a:spcAft>
              <a:buClr>
                <a:schemeClr val="dk1"/>
              </a:buClr>
              <a:buSzPts val="3200"/>
              <a:buNone/>
            </a:pPr>
            <a:r>
              <a:rPr b="1" lang="en-IN" sz="3200"/>
              <a:t>PrepSmartly: Multimodal AI-Powered Interview Simulation System with Real-Time Feedback and Adaptive LLM Evaluation</a:t>
            </a:r>
            <a:endParaRPr b="1" sz="3200"/>
          </a:p>
          <a:p>
            <a:pPr indent="0" lvl="0" marL="0" rtl="0" algn="ctr">
              <a:lnSpc>
                <a:spcPct val="90000"/>
              </a:lnSpc>
              <a:spcBef>
                <a:spcPts val="1000"/>
              </a:spcBef>
              <a:spcAft>
                <a:spcPts val="0"/>
              </a:spcAft>
              <a:buClr>
                <a:schemeClr val="dk1"/>
              </a:buClr>
              <a:buSzPts val="1800"/>
              <a:buNone/>
            </a:pPr>
            <a:r>
              <a:t/>
            </a:r>
            <a:endParaRPr b="1" sz="1800"/>
          </a:p>
          <a:p>
            <a:pPr indent="0" lvl="0" marL="0" rtl="0" algn="ctr">
              <a:lnSpc>
                <a:spcPct val="90000"/>
              </a:lnSpc>
              <a:spcBef>
                <a:spcPts val="1000"/>
              </a:spcBef>
              <a:spcAft>
                <a:spcPts val="0"/>
              </a:spcAft>
              <a:buClr>
                <a:schemeClr val="dk1"/>
              </a:buClr>
              <a:buSzPts val="1800"/>
              <a:buNone/>
            </a:pPr>
            <a:r>
              <a:rPr b="1" lang="en-IN" sz="1800"/>
              <a:t>Anmol Mahanty</a:t>
            </a:r>
            <a:endParaRPr b="1" sz="1800"/>
          </a:p>
          <a:p>
            <a:pPr indent="0" lvl="0" marL="0" rtl="0" algn="ctr">
              <a:lnSpc>
                <a:spcPct val="90000"/>
              </a:lnSpc>
              <a:spcBef>
                <a:spcPts val="1000"/>
              </a:spcBef>
              <a:spcAft>
                <a:spcPts val="0"/>
              </a:spcAft>
              <a:buClr>
                <a:schemeClr val="dk1"/>
              </a:buClr>
              <a:buSzPts val="1800"/>
              <a:buNone/>
            </a:pPr>
            <a:r>
              <a:rPr b="1" lang="en-IN" sz="1800"/>
              <a:t> Rohan Katakdhond</a:t>
            </a:r>
            <a:endParaRPr b="1" sz="1800"/>
          </a:p>
          <a:p>
            <a:pPr indent="0" lvl="0" marL="0" rtl="0" algn="ctr">
              <a:lnSpc>
                <a:spcPct val="90000"/>
              </a:lnSpc>
              <a:spcBef>
                <a:spcPts val="1000"/>
              </a:spcBef>
              <a:spcAft>
                <a:spcPts val="0"/>
              </a:spcAft>
              <a:buClr>
                <a:schemeClr val="dk1"/>
              </a:buClr>
              <a:buSzPts val="1800"/>
              <a:buNone/>
            </a:pPr>
            <a:r>
              <a:rPr b="1" lang="en-IN" sz="1800"/>
              <a:t> Mohammad Mulla</a:t>
            </a:r>
            <a:endParaRPr b="1" sz="1800"/>
          </a:p>
          <a:p>
            <a:pPr indent="0" lvl="0" marL="0" rtl="0" algn="ctr">
              <a:lnSpc>
                <a:spcPct val="90000"/>
              </a:lnSpc>
              <a:spcBef>
                <a:spcPts val="1000"/>
              </a:spcBef>
              <a:spcAft>
                <a:spcPts val="0"/>
              </a:spcAft>
              <a:buClr>
                <a:schemeClr val="dk1"/>
              </a:buClr>
              <a:buSzPts val="1800"/>
              <a:buNone/>
            </a:pPr>
            <a:r>
              <a:rPr b="1" lang="en-IN" sz="1800"/>
              <a:t>Prof. Deveshree Wankede</a:t>
            </a:r>
            <a:endParaRPr b="1" sz="1800"/>
          </a:p>
          <a:p>
            <a:pPr indent="0" lvl="0" marL="0" rtl="0" algn="ctr">
              <a:lnSpc>
                <a:spcPct val="90000"/>
              </a:lnSpc>
              <a:spcBef>
                <a:spcPts val="1000"/>
              </a:spcBef>
              <a:spcAft>
                <a:spcPts val="0"/>
              </a:spcAft>
              <a:buClr>
                <a:schemeClr val="dk1"/>
              </a:buClr>
              <a:buSzPts val="1800"/>
              <a:buNone/>
            </a:pPr>
            <a:r>
              <a:t/>
            </a:r>
            <a:endParaRPr b="1" sz="1800"/>
          </a:p>
          <a:p>
            <a:pPr indent="0" lvl="0" marL="0" rtl="0" algn="ctr">
              <a:lnSpc>
                <a:spcPct val="90000"/>
              </a:lnSpc>
              <a:spcBef>
                <a:spcPts val="1000"/>
              </a:spcBef>
              <a:spcAft>
                <a:spcPts val="0"/>
              </a:spcAft>
              <a:buClr>
                <a:schemeClr val="dk1"/>
              </a:buClr>
              <a:buSzPts val="1800"/>
              <a:buNone/>
            </a:pPr>
            <a:r>
              <a:rPr b="1" lang="en-IN" sz="1800">
                <a:solidFill>
                  <a:schemeClr val="dk1"/>
                </a:solidFill>
              </a:rPr>
              <a:t>Affiliation of Presenting Author : Shivajirao S. Jondhale College of Engineering</a:t>
            </a:r>
            <a:r>
              <a:rPr b="1" lang="en-IN"/>
              <a:t> </a:t>
            </a:r>
            <a:r>
              <a:rPr b="1" lang="en-IN" sz="1800"/>
              <a:t>,</a:t>
            </a:r>
            <a:r>
              <a:rPr b="1" lang="en-IN" sz="1800"/>
              <a:t>Dombivli (E)</a:t>
            </a:r>
            <a:endParaRPr b="1" sz="18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89" name="Google Shape;89;p13"/>
          <p:cNvSpPr txBox="1"/>
          <p:nvPr>
            <p:ph idx="11" type="ftr"/>
          </p:nvPr>
        </p:nvSpPr>
        <p:spPr>
          <a:xfrm>
            <a:off x="3581401" y="6215075"/>
            <a:ext cx="5853544" cy="506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90" name="Google Shape;90;p13"/>
          <p:cNvSpPr txBox="1"/>
          <p:nvPr/>
        </p:nvSpPr>
        <p:spPr>
          <a:xfrm>
            <a:off x="3867150" y="317188"/>
            <a:ext cx="3000000" cy="378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1000"/>
              </a:spcBef>
              <a:spcAft>
                <a:spcPts val="0"/>
              </a:spcAft>
              <a:buClr>
                <a:srgbClr val="000000"/>
              </a:buClr>
              <a:buSzPts val="1400"/>
              <a:buFont typeface="Arial"/>
              <a:buNone/>
            </a:pPr>
            <a:r>
              <a:t/>
            </a:r>
            <a:endParaRPr b="0" i="0" sz="1400" u="none" cap="none" strike="noStrike">
              <a:solidFill>
                <a:srgbClr val="20124D"/>
              </a:solidFill>
              <a:latin typeface="Arial"/>
              <a:ea typeface="Arial"/>
              <a:cs typeface="Arial"/>
              <a:sym typeface="Arial"/>
            </a:endParaRPr>
          </a:p>
        </p:txBody>
      </p:sp>
      <p:pic>
        <p:nvPicPr>
          <p:cNvPr id="91" name="Google Shape;91;p13"/>
          <p:cNvPicPr preferRelativeResize="0"/>
          <p:nvPr/>
        </p:nvPicPr>
        <p:blipFill rotWithShape="1">
          <a:blip r:embed="rId3">
            <a:alphaModFix/>
          </a:blip>
          <a:srcRect b="0" l="0" r="0" t="0"/>
          <a:stretch/>
        </p:blipFill>
        <p:spPr>
          <a:xfrm>
            <a:off x="467331" y="94906"/>
            <a:ext cx="1037913" cy="9865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spcBef>
                <a:spcPts val="1000"/>
              </a:spcBef>
              <a:spcAft>
                <a:spcPts val="0"/>
              </a:spcAft>
              <a:buNone/>
            </a:pPr>
            <a:r>
              <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Abstract					……………………..3</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Introduction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4</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Literature Review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5</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Research Gaps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6</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Proposed Methodology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7</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Results &amp; Discussion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8</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Comparative Analysis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9</a:t>
            </a:r>
            <a:endParaRPr>
              <a:latin typeface="Times New Roman"/>
              <a:ea typeface="Times New Roman"/>
              <a:cs typeface="Times New Roman"/>
              <a:sym typeface="Times New Roman"/>
            </a:endParaRPr>
          </a:p>
          <a:p>
            <a:pPr indent="1529999" lvl="0" marL="1710000" rtl="0" algn="l">
              <a:spcBef>
                <a:spcPts val="1000"/>
              </a:spcBef>
              <a:spcAft>
                <a:spcPts val="0"/>
              </a:spcAft>
              <a:buNone/>
            </a:pPr>
            <a:r>
              <a:rPr lang="en-IN">
                <a:latin typeface="Times New Roman"/>
                <a:ea typeface="Times New Roman"/>
                <a:cs typeface="Times New Roman"/>
                <a:sym typeface="Times New Roman"/>
              </a:rPr>
              <a:t>Conclusion &amp; Future Work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10</a:t>
            </a:r>
            <a:endParaRPr>
              <a:latin typeface="Times New Roman"/>
              <a:ea typeface="Times New Roman"/>
              <a:cs typeface="Times New Roman"/>
              <a:sym typeface="Times New Roman"/>
            </a:endParaRPr>
          </a:p>
          <a:p>
            <a:pPr indent="1529999" lvl="0" marL="1710000" rtl="0" algn="l">
              <a:spcBef>
                <a:spcPts val="1000"/>
              </a:spcBef>
              <a:spcAft>
                <a:spcPts val="0"/>
              </a:spcAft>
              <a:buClr>
                <a:schemeClr val="dk1"/>
              </a:buClr>
              <a:buSzPts val="1100"/>
              <a:buFont typeface="Arial"/>
              <a:buNone/>
            </a:pPr>
            <a:r>
              <a:rPr lang="en-IN">
                <a:latin typeface="Times New Roman"/>
                <a:ea typeface="Times New Roman"/>
                <a:cs typeface="Times New Roman"/>
                <a:sym typeface="Times New Roman"/>
              </a:rPr>
              <a:t>References				</a:t>
            </a:r>
            <a:r>
              <a:rPr lang="en-IN">
                <a:latin typeface="Times New Roman"/>
                <a:ea typeface="Times New Roman"/>
                <a:cs typeface="Times New Roman"/>
                <a:sym typeface="Times New Roman"/>
              </a:rPr>
              <a:t>……………………..</a:t>
            </a:r>
            <a:r>
              <a:rPr lang="en-IN">
                <a:latin typeface="Times New Roman"/>
                <a:ea typeface="Times New Roman"/>
                <a:cs typeface="Times New Roman"/>
                <a:sym typeface="Times New Roman"/>
              </a:rPr>
              <a:t>11</a:t>
            </a:r>
            <a:endParaRPr>
              <a:latin typeface="Times New Roman"/>
              <a:ea typeface="Times New Roman"/>
              <a:cs typeface="Times New Roman"/>
              <a:sym typeface="Times New Roman"/>
            </a:endParaRPr>
          </a:p>
        </p:txBody>
      </p:sp>
      <p:sp>
        <p:nvSpPr>
          <p:cNvPr id="97" name="Google Shape;97;p14"/>
          <p:cNvSpPr txBox="1"/>
          <p:nvPr>
            <p:ph idx="11" type="ftr"/>
          </p:nvPr>
        </p:nvSpPr>
        <p:spPr>
          <a:xfrm>
            <a:off x="1828799" y="6356350"/>
            <a:ext cx="9126245"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98" name="Google Shape;9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99" name="Google Shape;9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00" name="Google Shape;100;p14"/>
          <p:cNvPicPr preferRelativeResize="0"/>
          <p:nvPr/>
        </p:nvPicPr>
        <p:blipFill rotWithShape="1">
          <a:blip r:embed="rId3">
            <a:alphaModFix/>
          </a:blip>
          <a:srcRect b="0" l="0" r="0" t="0"/>
          <a:stretch/>
        </p:blipFill>
        <p:spPr>
          <a:xfrm>
            <a:off x="174595" y="57264"/>
            <a:ext cx="1036410" cy="981541"/>
          </a:xfrm>
          <a:prstGeom prst="rect">
            <a:avLst/>
          </a:prstGeom>
          <a:noFill/>
          <a:ln>
            <a:noFill/>
          </a:ln>
        </p:spPr>
      </p:pic>
      <p:sp>
        <p:nvSpPr>
          <p:cNvPr id="101" name="Google Shape;101;p14"/>
          <p:cNvSpPr txBox="1"/>
          <p:nvPr/>
        </p:nvSpPr>
        <p:spPr>
          <a:xfrm>
            <a:off x="4596000" y="521600"/>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INDEX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idx="1" type="subTitle"/>
          </p:nvPr>
        </p:nvSpPr>
        <p:spPr>
          <a:xfrm>
            <a:off x="174595" y="1133685"/>
            <a:ext cx="11842800" cy="56400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107" name="Google Shape;107;p15"/>
          <p:cNvSpPr txBox="1"/>
          <p:nvPr>
            <p:ph idx="11" type="ftr"/>
          </p:nvPr>
        </p:nvSpPr>
        <p:spPr>
          <a:xfrm>
            <a:off x="1775533" y="6356350"/>
            <a:ext cx="9215021"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08" name="Google Shape;10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09" name="Google Shape;10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10" name="Google Shape;110;p15"/>
          <p:cNvPicPr preferRelativeResize="0"/>
          <p:nvPr/>
        </p:nvPicPr>
        <p:blipFill rotWithShape="1">
          <a:blip r:embed="rId3">
            <a:alphaModFix/>
          </a:blip>
          <a:srcRect b="0" l="0" r="0" t="0"/>
          <a:stretch/>
        </p:blipFill>
        <p:spPr>
          <a:xfrm>
            <a:off x="319995" y="99957"/>
            <a:ext cx="1036410" cy="981541"/>
          </a:xfrm>
          <a:prstGeom prst="rect">
            <a:avLst/>
          </a:prstGeom>
          <a:noFill/>
          <a:ln>
            <a:noFill/>
          </a:ln>
        </p:spPr>
      </p:pic>
      <p:sp>
        <p:nvSpPr>
          <p:cNvPr id="111" name="Google Shape;111;p15"/>
          <p:cNvSpPr txBox="1"/>
          <p:nvPr/>
        </p:nvSpPr>
        <p:spPr>
          <a:xfrm>
            <a:off x="1066350" y="1784238"/>
            <a:ext cx="10059300" cy="46176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Modern interviews evaluate </a:t>
            </a:r>
            <a:r>
              <a:rPr b="1" lang="en-IN" sz="1800">
                <a:solidFill>
                  <a:schemeClr val="dk1"/>
                </a:solidFill>
                <a:latin typeface="Times New Roman"/>
                <a:ea typeface="Times New Roman"/>
                <a:cs typeface="Times New Roman"/>
                <a:sym typeface="Times New Roman"/>
              </a:rPr>
              <a:t>technical knowledge, communication, confidence, and behavior</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Traditional tools rely on </a:t>
            </a:r>
            <a:r>
              <a:rPr b="1" lang="en-IN" sz="1800">
                <a:solidFill>
                  <a:schemeClr val="dk1"/>
                </a:solidFill>
                <a:latin typeface="Times New Roman"/>
                <a:ea typeface="Times New Roman"/>
                <a:cs typeface="Times New Roman"/>
                <a:sym typeface="Times New Roman"/>
              </a:rPr>
              <a:t>static questions with generic and delayed feedback</a:t>
            </a:r>
            <a:r>
              <a:rPr lang="en-IN" sz="1800">
                <a:solidFill>
                  <a:schemeClr val="dk1"/>
                </a:solidFill>
                <a:latin typeface="Times New Roman"/>
                <a:ea typeface="Times New Roman"/>
                <a:cs typeface="Times New Roman"/>
                <a:sym typeface="Times New Roman"/>
              </a:rPr>
              <a:t>, lacking real-time adaptability.</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fail to simulate </a:t>
            </a:r>
            <a:r>
              <a:rPr b="1" lang="en-IN" sz="1800">
                <a:solidFill>
                  <a:schemeClr val="dk1"/>
                </a:solidFill>
                <a:latin typeface="Times New Roman"/>
                <a:ea typeface="Times New Roman"/>
                <a:cs typeface="Times New Roman"/>
                <a:sym typeface="Times New Roman"/>
              </a:rPr>
              <a:t>dynamic, real-world interview conditions</a:t>
            </a:r>
            <a:r>
              <a:rPr lang="en-IN" sz="1800">
                <a:solidFill>
                  <a:schemeClr val="dk1"/>
                </a:solidFill>
                <a:latin typeface="Times New Roman"/>
                <a:ea typeface="Times New Roman"/>
                <a:cs typeface="Times New Roman"/>
                <a:sym typeface="Times New Roman"/>
              </a:rPr>
              <a:t>, reducing preparation effectiveness.</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PrepSmartly</a:t>
            </a:r>
            <a:r>
              <a:rPr lang="en-IN" sz="1800">
                <a:solidFill>
                  <a:schemeClr val="dk1"/>
                </a:solidFill>
                <a:latin typeface="Times New Roman"/>
                <a:ea typeface="Times New Roman"/>
                <a:cs typeface="Times New Roman"/>
                <a:sym typeface="Times New Roman"/>
              </a:rPr>
              <a:t> is an </a:t>
            </a:r>
            <a:r>
              <a:rPr b="1" lang="en-IN" sz="1800">
                <a:solidFill>
                  <a:schemeClr val="dk1"/>
                </a:solidFill>
                <a:latin typeface="Times New Roman"/>
                <a:ea typeface="Times New Roman"/>
                <a:cs typeface="Times New Roman"/>
                <a:sym typeface="Times New Roman"/>
              </a:rPr>
              <a:t>AI-based multimodal interview simulation platform</a:t>
            </a:r>
            <a:r>
              <a:rPr lang="en-IN" sz="1800">
                <a:solidFill>
                  <a:schemeClr val="dk1"/>
                </a:solidFill>
                <a:latin typeface="Times New Roman"/>
                <a:ea typeface="Times New Roman"/>
                <a:cs typeface="Times New Roman"/>
                <a:sym typeface="Times New Roman"/>
              </a:rPr>
              <a:t> designed to overcome these limitations.</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It integrates </a:t>
            </a:r>
            <a:r>
              <a:rPr b="1" lang="en-IN" sz="1800">
                <a:solidFill>
                  <a:schemeClr val="dk1"/>
                </a:solidFill>
                <a:latin typeface="Times New Roman"/>
                <a:ea typeface="Times New Roman"/>
                <a:cs typeface="Times New Roman"/>
                <a:sym typeface="Times New Roman"/>
              </a:rPr>
              <a:t>speech analysis, facial recognition, and live coding evaluation</a:t>
            </a:r>
            <a:r>
              <a:rPr lang="en-IN" sz="1800">
                <a:solidFill>
                  <a:schemeClr val="dk1"/>
                </a:solidFill>
                <a:latin typeface="Times New Roman"/>
                <a:ea typeface="Times New Roman"/>
                <a:cs typeface="Times New Roman"/>
                <a:sym typeface="Times New Roman"/>
              </a:rPr>
              <a:t> for realistic assessment.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A </a:t>
            </a:r>
            <a:r>
              <a:rPr b="1" lang="en-IN" sz="1800">
                <a:solidFill>
                  <a:schemeClr val="dk1"/>
                </a:solidFill>
                <a:latin typeface="Times New Roman"/>
                <a:ea typeface="Times New Roman"/>
                <a:cs typeface="Times New Roman"/>
                <a:sym typeface="Times New Roman"/>
              </a:rPr>
              <a:t>Dual-LLM architecture</a:t>
            </a:r>
            <a:r>
              <a:rPr lang="en-IN" sz="1800">
                <a:solidFill>
                  <a:schemeClr val="dk1"/>
                </a:solidFill>
                <a:latin typeface="Times New Roman"/>
                <a:ea typeface="Times New Roman"/>
                <a:cs typeface="Times New Roman"/>
                <a:sym typeface="Times New Roman"/>
              </a:rPr>
              <a:t> enables </a:t>
            </a:r>
            <a:r>
              <a:rPr b="1" lang="en-IN" sz="1800">
                <a:solidFill>
                  <a:schemeClr val="dk1"/>
                </a:solidFill>
                <a:latin typeface="Times New Roman"/>
                <a:ea typeface="Times New Roman"/>
                <a:cs typeface="Times New Roman"/>
                <a:sym typeface="Times New Roman"/>
              </a:rPr>
              <a:t>adaptive questioning and real-time evaluation</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Provides </a:t>
            </a:r>
            <a:r>
              <a:rPr b="1" lang="en-IN" sz="1800">
                <a:solidFill>
                  <a:schemeClr val="dk1"/>
                </a:solidFill>
                <a:latin typeface="Times New Roman"/>
                <a:ea typeface="Times New Roman"/>
                <a:cs typeface="Times New Roman"/>
                <a:sym typeface="Times New Roman"/>
              </a:rPr>
              <a:t>real-time micro-feedback</a:t>
            </a:r>
            <a:r>
              <a:rPr lang="en-IN" sz="1800">
                <a:solidFill>
                  <a:schemeClr val="dk1"/>
                </a:solidFill>
                <a:latin typeface="Times New Roman"/>
                <a:ea typeface="Times New Roman"/>
                <a:cs typeface="Times New Roman"/>
                <a:sym typeface="Times New Roman"/>
              </a:rPr>
              <a:t> and </a:t>
            </a:r>
            <a:r>
              <a:rPr b="1" lang="en-IN" sz="1800">
                <a:solidFill>
                  <a:schemeClr val="dk1"/>
                </a:solidFill>
                <a:latin typeface="Times New Roman"/>
                <a:ea typeface="Times New Roman"/>
                <a:cs typeface="Times New Roman"/>
                <a:sym typeface="Times New Roman"/>
              </a:rPr>
              <a:t>detailed post-interview analysis</a:t>
            </a:r>
            <a:r>
              <a:rPr lang="en-IN" sz="1800">
                <a:solidFill>
                  <a:schemeClr val="dk1"/>
                </a:solidFill>
                <a:latin typeface="Times New Roman"/>
                <a:ea typeface="Times New Roman"/>
                <a:cs typeface="Times New Roman"/>
                <a:sym typeface="Times New Roman"/>
              </a:rPr>
              <a:t> covering technical, communication, and non-verbal aspects.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12" name="Google Shape;112;p15"/>
          <p:cNvSpPr txBox="1"/>
          <p:nvPr/>
        </p:nvSpPr>
        <p:spPr>
          <a:xfrm>
            <a:off x="4883038" y="3321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ABSTRACT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1" type="ftr"/>
          </p:nvPr>
        </p:nvSpPr>
        <p:spPr>
          <a:xfrm>
            <a:off x="1811045" y="6356350"/>
            <a:ext cx="9232800" cy="365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18" name="Google Shape;118;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19" name="Google Shape;119;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20" name="Google Shape;120;p16"/>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121" name="Google Shape;121;p16"/>
          <p:cNvSpPr txBox="1"/>
          <p:nvPr/>
        </p:nvSpPr>
        <p:spPr>
          <a:xfrm>
            <a:off x="4596000" y="3925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INTRODUCTION</a:t>
            </a:r>
            <a:endParaRPr>
              <a:solidFill>
                <a:schemeClr val="dk1"/>
              </a:solidFill>
              <a:latin typeface="Comic Sans MS"/>
              <a:ea typeface="Comic Sans MS"/>
              <a:cs typeface="Comic Sans MS"/>
              <a:sym typeface="Comic Sans MS"/>
            </a:endParaRPr>
          </a:p>
        </p:txBody>
      </p:sp>
      <p:sp>
        <p:nvSpPr>
          <p:cNvPr id="122" name="Google Shape;122;p16"/>
          <p:cNvSpPr txBox="1"/>
          <p:nvPr/>
        </p:nvSpPr>
        <p:spPr>
          <a:xfrm>
            <a:off x="320000" y="1732175"/>
            <a:ext cx="11033700" cy="39867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Interviews are a </a:t>
            </a:r>
            <a:r>
              <a:rPr b="1" lang="en-IN" sz="1800">
                <a:solidFill>
                  <a:schemeClr val="dk1"/>
                </a:solidFill>
                <a:latin typeface="Times New Roman"/>
                <a:ea typeface="Times New Roman"/>
                <a:cs typeface="Times New Roman"/>
                <a:sym typeface="Times New Roman"/>
              </a:rPr>
              <a:t>critical step</a:t>
            </a:r>
            <a:r>
              <a:rPr lang="en-IN" sz="1800">
                <a:solidFill>
                  <a:schemeClr val="dk1"/>
                </a:solidFill>
                <a:latin typeface="Times New Roman"/>
                <a:ea typeface="Times New Roman"/>
                <a:cs typeface="Times New Roman"/>
                <a:sym typeface="Times New Roman"/>
              </a:rPr>
              <a:t> for jobs, higher education, and career advancement.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assess both </a:t>
            </a:r>
            <a:r>
              <a:rPr b="1" lang="en-IN" sz="1800">
                <a:solidFill>
                  <a:schemeClr val="dk1"/>
                </a:solidFill>
                <a:latin typeface="Times New Roman"/>
                <a:ea typeface="Times New Roman"/>
                <a:cs typeface="Times New Roman"/>
                <a:sym typeface="Times New Roman"/>
              </a:rPr>
              <a:t>technical knowledge and communication skills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Many candidates underperform due to </a:t>
            </a:r>
            <a:r>
              <a:rPr b="1" lang="en-IN" sz="1800">
                <a:solidFill>
                  <a:schemeClr val="dk1"/>
                </a:solidFill>
                <a:latin typeface="Times New Roman"/>
                <a:ea typeface="Times New Roman"/>
                <a:cs typeface="Times New Roman"/>
                <a:sym typeface="Times New Roman"/>
              </a:rPr>
              <a:t>nervousness, lack of confidence, and poor response structuring</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Existing platforms rely on </a:t>
            </a:r>
            <a:r>
              <a:rPr b="1" lang="en-IN" sz="1800">
                <a:solidFill>
                  <a:schemeClr val="dk1"/>
                </a:solidFill>
                <a:latin typeface="Times New Roman"/>
                <a:ea typeface="Times New Roman"/>
                <a:cs typeface="Times New Roman"/>
                <a:sym typeface="Times New Roman"/>
              </a:rPr>
              <a:t>static Q&amp;A formats</a:t>
            </a:r>
            <a:r>
              <a:rPr lang="en-IN" sz="1800">
                <a:solidFill>
                  <a:schemeClr val="dk1"/>
                </a:solidFill>
                <a:latin typeface="Times New Roman"/>
                <a:ea typeface="Times New Roman"/>
                <a:cs typeface="Times New Roman"/>
                <a:sym typeface="Times New Roman"/>
              </a:rPr>
              <a:t> and fail to simulate real interview scenarios.</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ignore </a:t>
            </a:r>
            <a:r>
              <a:rPr b="1" lang="en-IN" sz="1800">
                <a:solidFill>
                  <a:schemeClr val="dk1"/>
                </a:solidFill>
                <a:latin typeface="Times New Roman"/>
                <a:ea typeface="Times New Roman"/>
                <a:cs typeface="Times New Roman"/>
                <a:sym typeface="Times New Roman"/>
              </a:rPr>
              <a:t>speech tone, facial expressions, and live coding abilities</a:t>
            </a:r>
            <a:r>
              <a:rPr lang="en-IN" sz="1800">
                <a:solidFill>
                  <a:schemeClr val="dk1"/>
                </a:solidFill>
                <a:latin typeface="Times New Roman"/>
                <a:ea typeface="Times New Roman"/>
                <a:cs typeface="Times New Roman"/>
                <a:sym typeface="Times New Roman"/>
              </a:rPr>
              <a:t>, leading to incomplete evaluation.</a:t>
            </a:r>
            <a:endParaRPr sz="1800">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PrepSmartly</a:t>
            </a:r>
            <a:r>
              <a:rPr lang="en-IN" sz="1800">
                <a:solidFill>
                  <a:schemeClr val="dk1"/>
                </a:solidFill>
                <a:latin typeface="Times New Roman"/>
                <a:ea typeface="Times New Roman"/>
                <a:cs typeface="Times New Roman"/>
                <a:sym typeface="Times New Roman"/>
              </a:rPr>
              <a:t> addresses these gaps by providing a </a:t>
            </a:r>
            <a:r>
              <a:rPr b="1" lang="en-IN" sz="1800">
                <a:solidFill>
                  <a:schemeClr val="dk1"/>
                </a:solidFill>
                <a:latin typeface="Times New Roman"/>
                <a:ea typeface="Times New Roman"/>
                <a:cs typeface="Times New Roman"/>
                <a:sym typeface="Times New Roman"/>
              </a:rPr>
              <a:t>realistic, adaptive, AI-driven interview simulation environment</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idx="1" type="subTitle"/>
          </p:nvPr>
        </p:nvSpPr>
        <p:spPr>
          <a:xfrm>
            <a:off x="174600" y="926050"/>
            <a:ext cx="11842800" cy="5847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1400"/>
              <a:buNone/>
            </a:pPr>
            <a:r>
              <a:rPr lang="en-IN" sz="1400">
                <a:latin typeface="Comic Sans MS"/>
                <a:ea typeface="Comic Sans MS"/>
                <a:cs typeface="Comic Sans MS"/>
                <a:sym typeface="Comic Sans MS"/>
              </a:rPr>
              <a:t> </a:t>
            </a:r>
            <a:endParaRPr sz="1400">
              <a:latin typeface="Comic Sans MS"/>
              <a:ea typeface="Comic Sans MS"/>
              <a:cs typeface="Comic Sans MS"/>
              <a:sym typeface="Comic Sans MS"/>
            </a:endParaRPr>
          </a:p>
        </p:txBody>
      </p:sp>
      <p:sp>
        <p:nvSpPr>
          <p:cNvPr id="128" name="Google Shape;128;p17"/>
          <p:cNvSpPr txBox="1"/>
          <p:nvPr>
            <p:ph idx="11" type="ftr"/>
          </p:nvPr>
        </p:nvSpPr>
        <p:spPr>
          <a:xfrm>
            <a:off x="1837678" y="6356350"/>
            <a:ext cx="9179510"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29" name="Google Shape;12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30" name="Google Shape;13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31" name="Google Shape;131;p17"/>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graphicFrame>
        <p:nvGraphicFramePr>
          <p:cNvPr id="132" name="Google Shape;132;p17"/>
          <p:cNvGraphicFramePr/>
          <p:nvPr/>
        </p:nvGraphicFramePr>
        <p:xfrm>
          <a:off x="427300" y="1241400"/>
          <a:ext cx="3000000" cy="3000000"/>
        </p:xfrm>
        <a:graphic>
          <a:graphicData uri="http://schemas.openxmlformats.org/drawingml/2006/table">
            <a:tbl>
              <a:tblPr>
                <a:noFill/>
                <a:tableStyleId>{2417ABC9-03DB-49DB-913E-264A4F552824}</a:tableStyleId>
              </a:tblPr>
              <a:tblGrid>
                <a:gridCol w="663950"/>
                <a:gridCol w="4847025"/>
                <a:gridCol w="2241525"/>
                <a:gridCol w="2024650"/>
                <a:gridCol w="1657425"/>
              </a:tblGrid>
              <a:tr h="481725">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Sr.no </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Title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Methodology</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Advantage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Limitation</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98375">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1.</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AI-Based Mock Interview Simulation System for Job Preparation [1] (May 2025)</a:t>
                      </a:r>
                      <a:r>
                        <a:rPr lang="en-IN" sz="1300">
                          <a:solidFill>
                            <a:srgbClr val="EEE27D"/>
                          </a:solidFill>
                          <a:latin typeface="Calibri"/>
                          <a:ea typeface="Calibri"/>
                          <a:cs typeface="Calibri"/>
                          <a:sym typeface="Calibri"/>
                        </a:rPr>
                        <a:t> </a:t>
                      </a:r>
                      <a:r>
                        <a:rPr i="1" lang="en-IN" sz="1300">
                          <a:solidFill>
                            <a:srgbClr val="EEE27D"/>
                          </a:solidFill>
                          <a:latin typeface="Calibri"/>
                          <a:ea typeface="Calibri"/>
                          <a:cs typeface="Calibri"/>
                          <a:sym typeface="Calibri"/>
                        </a:rPr>
                        <a:t> </a:t>
                      </a:r>
                      <a:r>
                        <a:rPr lang="en-IN" sz="1300">
                          <a:latin typeface="Calibri"/>
                          <a:ea typeface="Calibri"/>
                          <a:cs typeface="Calibri"/>
                          <a:sym typeface="Calibri"/>
                        </a:rPr>
                        <a:t>R. Shirbhate, H. Kulkarni, N. Bidaye, and S. Kangude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Generative AI (Gemini), multimodal analysis (video + sentiment)</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Personalized, domain-specific Qs, holistic feedback (verbal + non-verbal)</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Dependence on cloud AI models, high resource requirement</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994875">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2.</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The Future of Multimodal AI Models for Integrating Imaging and Clinical Metadata [2] (</a:t>
                      </a:r>
                      <a:r>
                        <a:rPr i="1" lang="en-IN" sz="1300">
                          <a:latin typeface="Calibri"/>
                          <a:ea typeface="Calibri"/>
                          <a:cs typeface="Calibri"/>
                          <a:sym typeface="Calibri"/>
                        </a:rPr>
                        <a:t>Jul.</a:t>
                      </a:r>
                      <a:r>
                        <a:rPr lang="en-IN" sz="1300">
                          <a:latin typeface="Calibri"/>
                          <a:ea typeface="Calibri"/>
                          <a:cs typeface="Calibri"/>
                          <a:sym typeface="Calibri"/>
                        </a:rPr>
                        <a:t> 2025) B. D. Simon, B. Ozyoruk, D. G. Gelikman, S. A. Harmon, and B. Türkbey</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Multimodal AI (Transformers, GNNs, fusion techniques)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Improves diagnostic accuracy, integrates diverse data</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Data scarcity, bias, taxonomy issues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94600">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3.</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Advances in Facial Expression Recognition: Survey of Methods, Benchmarks, Models, and Datasets [4] </a:t>
                      </a:r>
                      <a:r>
                        <a:rPr i="1" lang="en-IN" sz="1300">
                          <a:latin typeface="Calibri"/>
                          <a:ea typeface="Calibri"/>
                          <a:cs typeface="Calibri"/>
                          <a:sym typeface="Calibri"/>
                        </a:rPr>
                        <a:t>(2024) </a:t>
                      </a:r>
                      <a:r>
                        <a:rPr lang="en-IN" sz="1300">
                          <a:latin typeface="Calibri"/>
                          <a:ea typeface="Calibri"/>
                          <a:cs typeface="Calibri"/>
                          <a:sym typeface="Calibri"/>
                        </a:rPr>
                        <a:t>T</a:t>
                      </a:r>
                      <a:r>
                        <a:rPr lang="en-IN" sz="1300">
                          <a:latin typeface="Calibri"/>
                          <a:ea typeface="Calibri"/>
                          <a:cs typeface="Calibri"/>
                          <a:sym typeface="Calibri"/>
                        </a:rPr>
                        <a:t>. Kopalidis, V. Solachidis, N. Vretos, and P. Daras, “Advances </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Survey of FER (traditional → DL, CNN, RNN, GANs, Transformers)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Comprehensive taxonomy, 21 datasets, evaluation of 60+ models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Dataset bias, overfitting, limited real-world robustness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44750">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4.</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AI Interviewer Chatbot for Technical and Hr Brilliance: A Tool for Upskilling Candidate [5] </a:t>
                      </a:r>
                      <a:r>
                        <a:rPr i="1" lang="en-IN" sz="1300">
                          <a:latin typeface="Calibri"/>
                          <a:ea typeface="Calibri"/>
                          <a:cs typeface="Calibri"/>
                          <a:sym typeface="Calibri"/>
                        </a:rPr>
                        <a:t>(</a:t>
                      </a:r>
                      <a:r>
                        <a:rPr lang="en-IN" sz="1300">
                          <a:latin typeface="Calibri"/>
                          <a:ea typeface="Calibri"/>
                          <a:cs typeface="Calibri"/>
                          <a:sym typeface="Calibri"/>
                        </a:rPr>
                        <a:t>2024</a:t>
                      </a:r>
                      <a:r>
                        <a:rPr i="1" lang="en-IN" sz="1300">
                          <a:latin typeface="Calibri"/>
                          <a:ea typeface="Calibri"/>
                          <a:cs typeface="Calibri"/>
                          <a:sym typeface="Calibri"/>
                        </a:rPr>
                        <a:t>)</a:t>
                      </a:r>
                      <a:r>
                        <a:rPr lang="en-IN" sz="1300">
                          <a:latin typeface="Calibri"/>
                          <a:ea typeface="Calibri"/>
                          <a:cs typeface="Calibri"/>
                          <a:sym typeface="Calibri"/>
                        </a:rPr>
                        <a:t> </a:t>
                      </a:r>
                      <a:r>
                        <a:rPr lang="en-IN" sz="1300">
                          <a:latin typeface="Calibri"/>
                          <a:ea typeface="Calibri"/>
                          <a:cs typeface="Calibri"/>
                          <a:sym typeface="Calibri"/>
                        </a:rPr>
                        <a:t>K. K. Jain, R.</a:t>
                      </a:r>
                      <a:r>
                        <a:rPr lang="en-IN" sz="1300">
                          <a:solidFill>
                            <a:srgbClr val="CFCBBF"/>
                          </a:solidFill>
                          <a:latin typeface="Calibri"/>
                          <a:ea typeface="Calibri"/>
                          <a:cs typeface="Calibri"/>
                          <a:sym typeface="Calibri"/>
                        </a:rPr>
                        <a:t> </a:t>
                      </a:r>
                      <a:r>
                        <a:rPr lang="en-IN" sz="1300">
                          <a:latin typeface="Calibri"/>
                          <a:ea typeface="Calibri"/>
                          <a:cs typeface="Calibri"/>
                          <a:sym typeface="Calibri"/>
                        </a:rPr>
                        <a:t>S. R., G. R. S. Charan, and V. A. Narayana</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Parses resumes to generate tailored interview questions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Relevant interview questions based on user profile and background</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None/>
                      </a:pPr>
                      <a:r>
                        <a:rPr lang="en-IN" sz="1300">
                          <a:latin typeface="Calibri"/>
                          <a:ea typeface="Calibri"/>
                          <a:cs typeface="Calibri"/>
                          <a:sym typeface="Calibri"/>
                        </a:rPr>
                        <a:t>May struggle with unconventional profiles</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33" name="Google Shape;133;p17"/>
          <p:cNvSpPr txBox="1"/>
          <p:nvPr/>
        </p:nvSpPr>
        <p:spPr>
          <a:xfrm>
            <a:off x="4596000" y="2569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LITERATURE REVIEW </a:t>
            </a:r>
            <a:endParaRPr>
              <a:solidFill>
                <a:schemeClr val="dk1"/>
              </a:solidFill>
              <a:latin typeface="Comic Sans MS"/>
              <a:ea typeface="Comic Sans MS"/>
              <a:cs typeface="Comic Sans MS"/>
              <a:sym typeface="Comic Sans MS"/>
            </a:endParaRPr>
          </a:p>
        </p:txBody>
      </p:sp>
      <p:sp>
        <p:nvSpPr>
          <p:cNvPr id="134" name="Google Shape;134;p17"/>
          <p:cNvSpPr txBox="1"/>
          <p:nvPr/>
        </p:nvSpPr>
        <p:spPr>
          <a:xfrm>
            <a:off x="4596000" y="9260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Table No :1 Summary of 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idx="1" type="subTitle"/>
          </p:nvPr>
        </p:nvSpPr>
        <p:spPr>
          <a:xfrm>
            <a:off x="174600" y="855200"/>
            <a:ext cx="11842800" cy="5918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1400"/>
              <a:buNone/>
            </a:pPr>
            <a:r>
              <a:rPr lang="en-IN" sz="1400">
                <a:latin typeface="Comic Sans MS"/>
                <a:ea typeface="Comic Sans MS"/>
                <a:cs typeface="Comic Sans MS"/>
                <a:sym typeface="Comic Sans MS"/>
              </a:rPr>
              <a:t> </a:t>
            </a:r>
            <a:endParaRPr sz="1400">
              <a:latin typeface="Comic Sans MS"/>
              <a:ea typeface="Comic Sans MS"/>
              <a:cs typeface="Comic Sans MS"/>
              <a:sym typeface="Comic Sans MS"/>
            </a:endParaRPr>
          </a:p>
        </p:txBody>
      </p:sp>
      <p:sp>
        <p:nvSpPr>
          <p:cNvPr id="140" name="Google Shape;140;p18"/>
          <p:cNvSpPr txBox="1"/>
          <p:nvPr>
            <p:ph idx="11" type="ftr"/>
          </p:nvPr>
        </p:nvSpPr>
        <p:spPr>
          <a:xfrm>
            <a:off x="1837678" y="6356350"/>
            <a:ext cx="9179400" cy="365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41" name="Google Shape;141;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42" name="Google Shape;142;p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43" name="Google Shape;143;p18"/>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graphicFrame>
        <p:nvGraphicFramePr>
          <p:cNvPr id="144" name="Google Shape;144;p18"/>
          <p:cNvGraphicFramePr/>
          <p:nvPr/>
        </p:nvGraphicFramePr>
        <p:xfrm>
          <a:off x="427300" y="1241400"/>
          <a:ext cx="3000000" cy="3000000"/>
        </p:xfrm>
        <a:graphic>
          <a:graphicData uri="http://schemas.openxmlformats.org/drawingml/2006/table">
            <a:tbl>
              <a:tblPr>
                <a:noFill/>
                <a:tableStyleId>{2417ABC9-03DB-49DB-913E-264A4F552824}</a:tableStyleId>
              </a:tblPr>
              <a:tblGrid>
                <a:gridCol w="663950"/>
                <a:gridCol w="4847025"/>
                <a:gridCol w="2241525"/>
                <a:gridCol w="2024650"/>
                <a:gridCol w="1657425"/>
              </a:tblGrid>
              <a:tr h="463150">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Sr.no </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Title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Methodology</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Advantage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Limitation</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827875">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IN" sz="1200">
                          <a:latin typeface="Times New Roman"/>
                          <a:ea typeface="Times New Roman"/>
                          <a:cs typeface="Times New Roman"/>
                          <a:sym typeface="Times New Roman"/>
                        </a:rPr>
                        <a:t>Generative Ai-based Interview Simulation and Performance Analysis [6] </a:t>
                      </a:r>
                      <a:r>
                        <a:rPr i="1" lang="en-IN" sz="1200">
                          <a:latin typeface="Times New Roman"/>
                          <a:ea typeface="Times New Roman"/>
                          <a:cs typeface="Times New Roman"/>
                          <a:sym typeface="Times New Roman"/>
                        </a:rPr>
                        <a:t>(</a:t>
                      </a:r>
                      <a:r>
                        <a:rPr lang="en-IN" sz="1200">
                          <a:latin typeface="Times New Roman"/>
                          <a:ea typeface="Times New Roman"/>
                          <a:cs typeface="Times New Roman"/>
                          <a:sym typeface="Times New Roman"/>
                        </a:rPr>
                        <a:t>2024)S. Mahajan, N. Sonawane, R. Bagal, S. Kulkarni, A. Suryawanshi, and Y. Mhaisne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Scrapes questions and answers from web sources for AI training</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Up-to-date and diverse conten</a:t>
                      </a:r>
                      <a:r>
                        <a:rPr lang="en-IN" sz="1200">
                          <a:solidFill>
                            <a:srgbClr val="EEE27D"/>
                          </a:solidFill>
                          <a:latin typeface="Times New Roman"/>
                          <a:ea typeface="Times New Roman"/>
                          <a:cs typeface="Times New Roman"/>
                          <a:sym typeface="Times New Roman"/>
                        </a:rPr>
                        <a:t>t</a:t>
                      </a:r>
                      <a:endParaRPr sz="1200">
                        <a:solidFill>
                          <a:srgbClr val="EEE27D"/>
                        </a:solidFill>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Legal and ethical concerns with data scraping</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27350">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IN" sz="1200">
                          <a:latin typeface="Times New Roman"/>
                          <a:ea typeface="Times New Roman"/>
                          <a:cs typeface="Times New Roman"/>
                          <a:sym typeface="Times New Roman"/>
                        </a:rPr>
                        <a:t>Facial Expression and Sound Analysis for Interview Assessment: AI-Based Application (August 2024) [3] D. Anwat, P. Derle, P. Nagare, and H. R. Agashe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300">
                          <a:latin typeface="Times New Roman"/>
                          <a:ea typeface="Times New Roman"/>
                          <a:cs typeface="Times New Roman"/>
                          <a:sym typeface="Times New Roman"/>
                        </a:rPr>
                        <a:t>Virtual recruiter + facial &amp; voice analysis + STT</a:t>
                      </a:r>
                      <a:endParaRPr sz="13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300">
                          <a:latin typeface="Times New Roman"/>
                          <a:ea typeface="Times New Roman"/>
                          <a:cs typeface="Times New Roman"/>
                          <a:sym typeface="Times New Roman"/>
                        </a:rPr>
                        <a:t>Real-time feedback (expressions, speech, reaction time), progress tracking</a:t>
                      </a:r>
                      <a:endParaRPr sz="13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Limited to controlled scenarios, initial stage system</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57875">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IN" sz="1200">
                          <a:latin typeface="Times New Roman"/>
                          <a:ea typeface="Times New Roman"/>
                          <a:cs typeface="Times New Roman"/>
                          <a:sym typeface="Times New Roman"/>
                        </a:rPr>
                        <a:t>AI Based Mock Interview Evaluation and Analysis: to Analyze Emotion, Confidence, and Knowledge [8] </a:t>
                      </a:r>
                      <a:r>
                        <a:rPr i="1" lang="en-IN" sz="1200">
                          <a:latin typeface="Times New Roman"/>
                          <a:ea typeface="Times New Roman"/>
                          <a:cs typeface="Times New Roman"/>
                          <a:sym typeface="Times New Roman"/>
                        </a:rPr>
                        <a:t>(</a:t>
                      </a:r>
                      <a:r>
                        <a:rPr lang="en-IN" sz="1200">
                          <a:latin typeface="Times New Roman"/>
                          <a:ea typeface="Times New Roman"/>
                          <a:cs typeface="Times New Roman"/>
                          <a:sym typeface="Times New Roman"/>
                        </a:rPr>
                        <a:t>2023</a:t>
                      </a:r>
                      <a:r>
                        <a:rPr i="1" lang="en-IN" sz="1200">
                          <a:latin typeface="Times New Roman"/>
                          <a:ea typeface="Times New Roman"/>
                          <a:cs typeface="Times New Roman"/>
                          <a:sym typeface="Times New Roman"/>
                        </a:rPr>
                        <a:t>) </a:t>
                      </a:r>
                      <a:r>
                        <a:rPr lang="en-IN" sz="1200">
                          <a:latin typeface="Times New Roman"/>
                          <a:ea typeface="Times New Roman"/>
                          <a:cs typeface="Times New Roman"/>
                          <a:sym typeface="Times New Roman"/>
                        </a:rPr>
                        <a:t>H. R. Agashe, D. Anwat, P. Derle, P. Nagare, and S. Dhavale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Uses CNN to assess facial expressions, gestures, and responses via video/audio</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Comprehensive feedback on body language, tone, and clarity</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May provide overwhelming feedback; cannot replicate real interview nuances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10525">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8.</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IN" sz="1200">
                          <a:latin typeface="Times New Roman"/>
                          <a:ea typeface="Times New Roman"/>
                          <a:cs typeface="Times New Roman"/>
                          <a:sym typeface="Times New Roman"/>
                        </a:rPr>
                        <a:t>Facial Expression Recognition: A Review of Trends and Techniques.[7]</a:t>
                      </a:r>
                      <a:endParaRPr sz="1200">
                        <a:latin typeface="Times New Roman"/>
                        <a:ea typeface="Times New Roman"/>
                        <a:cs typeface="Times New Roman"/>
                        <a:sym typeface="Times New Roman"/>
                      </a:endParaRPr>
                    </a:p>
                    <a:p>
                      <a:pPr indent="0" lvl="0" marL="0" rtl="0" algn="l">
                        <a:spcBef>
                          <a:spcPts val="1200"/>
                        </a:spcBef>
                        <a:spcAft>
                          <a:spcPts val="0"/>
                        </a:spcAft>
                        <a:buNone/>
                      </a:pPr>
                      <a:r>
                        <a:rPr i="1" lang="en-IN" sz="1200">
                          <a:latin typeface="Times New Roman"/>
                          <a:ea typeface="Times New Roman"/>
                          <a:cs typeface="Times New Roman"/>
                          <a:sym typeface="Times New Roman"/>
                        </a:rPr>
                        <a:t>(2021)</a:t>
                      </a:r>
                      <a:r>
                        <a:rPr lang="en-IN" sz="1200">
                          <a:latin typeface="Times New Roman"/>
                          <a:ea typeface="Times New Roman"/>
                          <a:cs typeface="Times New Roman"/>
                          <a:sym typeface="Times New Roman"/>
                        </a:rPr>
                        <a:t>  T. Kopalidis, V. Solachidis, N. Vretos, and P. Daras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300">
                          <a:latin typeface="Times New Roman"/>
                          <a:ea typeface="Times New Roman"/>
                          <a:cs typeface="Times New Roman"/>
                          <a:sym typeface="Times New Roman"/>
                        </a:rPr>
                        <a:t>FER using SLL, MLL, LDL + ML &amp; DL models</a:t>
                      </a:r>
                      <a:endParaRPr sz="13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300">
                          <a:latin typeface="Times New Roman"/>
                          <a:ea typeface="Times New Roman"/>
                          <a:cs typeface="Times New Roman"/>
                          <a:sym typeface="Times New Roman"/>
                        </a:rPr>
                        <a:t>Covers FER applications (medicine, HCI, security)</a:t>
                      </a:r>
                      <a:endParaRPr sz="13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300">
                          <a:latin typeface="Times New Roman"/>
                          <a:ea typeface="Times New Roman"/>
                          <a:cs typeface="Times New Roman"/>
                          <a:sym typeface="Times New Roman"/>
                        </a:rPr>
                        <a:t>Challenges: occlusion, pose, age, illumination</a:t>
                      </a:r>
                      <a:endParaRPr sz="13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18"/>
          <p:cNvSpPr txBox="1"/>
          <p:nvPr/>
        </p:nvSpPr>
        <p:spPr>
          <a:xfrm>
            <a:off x="4596000" y="2569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LITERATURE REVIEW </a:t>
            </a:r>
            <a:endParaRPr>
              <a:solidFill>
                <a:schemeClr val="dk1"/>
              </a:solidFill>
              <a:latin typeface="Comic Sans MS"/>
              <a:ea typeface="Comic Sans MS"/>
              <a:cs typeface="Comic Sans MS"/>
              <a:sym typeface="Comic Sans MS"/>
            </a:endParaRPr>
          </a:p>
        </p:txBody>
      </p:sp>
      <p:sp>
        <p:nvSpPr>
          <p:cNvPr id="146" name="Google Shape;146;p18"/>
          <p:cNvSpPr txBox="1"/>
          <p:nvPr/>
        </p:nvSpPr>
        <p:spPr>
          <a:xfrm>
            <a:off x="4644588" y="815313"/>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Table No :1 Summary of Literature Review</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idx="1" type="subTitle"/>
          </p:nvPr>
        </p:nvSpPr>
        <p:spPr>
          <a:xfrm>
            <a:off x="174595" y="1133685"/>
            <a:ext cx="11842800" cy="56400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1400"/>
              <a:buNone/>
            </a:pPr>
            <a:r>
              <a:rPr lang="en-IN" sz="1400">
                <a:latin typeface="Comic Sans MS"/>
                <a:ea typeface="Comic Sans MS"/>
                <a:cs typeface="Comic Sans MS"/>
                <a:sym typeface="Comic Sans MS"/>
              </a:rPr>
              <a:t> </a:t>
            </a:r>
            <a:endParaRPr sz="1400">
              <a:latin typeface="Comic Sans MS"/>
              <a:ea typeface="Comic Sans MS"/>
              <a:cs typeface="Comic Sans MS"/>
              <a:sym typeface="Comic Sans MS"/>
            </a:endParaRPr>
          </a:p>
        </p:txBody>
      </p:sp>
      <p:sp>
        <p:nvSpPr>
          <p:cNvPr id="152" name="Google Shape;152;p19"/>
          <p:cNvSpPr txBox="1"/>
          <p:nvPr>
            <p:ph idx="11" type="ftr"/>
          </p:nvPr>
        </p:nvSpPr>
        <p:spPr>
          <a:xfrm>
            <a:off x="1837678" y="6356350"/>
            <a:ext cx="9179400" cy="365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53" name="Google Shape;153;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54" name="Google Shape;154;p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55" name="Google Shape;155;p19"/>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graphicFrame>
        <p:nvGraphicFramePr>
          <p:cNvPr id="156" name="Google Shape;156;p19"/>
          <p:cNvGraphicFramePr/>
          <p:nvPr/>
        </p:nvGraphicFramePr>
        <p:xfrm>
          <a:off x="427300" y="1545875"/>
          <a:ext cx="3000000" cy="3000000"/>
        </p:xfrm>
        <a:graphic>
          <a:graphicData uri="http://schemas.openxmlformats.org/drawingml/2006/table">
            <a:tbl>
              <a:tblPr>
                <a:noFill/>
                <a:tableStyleId>{2417ABC9-03DB-49DB-913E-264A4F552824}</a:tableStyleId>
              </a:tblPr>
              <a:tblGrid>
                <a:gridCol w="663950"/>
                <a:gridCol w="4847025"/>
                <a:gridCol w="2241525"/>
                <a:gridCol w="2024650"/>
                <a:gridCol w="1657425"/>
              </a:tblGrid>
              <a:tr h="467850">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Sr.no </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Title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Methodology</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Advantage</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0"/>
                        </a:spcAft>
                        <a:buNone/>
                      </a:pPr>
                      <a:r>
                        <a:rPr lang="en-IN" sz="1300">
                          <a:latin typeface="Calibri"/>
                          <a:ea typeface="Calibri"/>
                          <a:cs typeface="Calibri"/>
                          <a:sym typeface="Calibri"/>
                        </a:rPr>
                        <a:t>Limitation</a:t>
                      </a:r>
                      <a:endParaRPr sz="13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69625">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9.</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IN" sz="1200">
                          <a:latin typeface="Times New Roman"/>
                          <a:ea typeface="Times New Roman"/>
                          <a:cs typeface="Times New Roman"/>
                          <a:sym typeface="Times New Roman"/>
                        </a:rPr>
                        <a:t>Subjective Answer Evaluation using Natural Language Processing and Machine Learning [9] </a:t>
                      </a:r>
                      <a:r>
                        <a:rPr i="1" lang="en-IN" sz="1200">
                          <a:latin typeface="Times New Roman"/>
                          <a:ea typeface="Times New Roman"/>
                          <a:cs typeface="Times New Roman"/>
                          <a:sym typeface="Times New Roman"/>
                        </a:rPr>
                        <a:t>(</a:t>
                      </a:r>
                      <a:r>
                        <a:rPr lang="en-IN" sz="1200">
                          <a:latin typeface="Times New Roman"/>
                          <a:ea typeface="Times New Roman"/>
                          <a:cs typeface="Times New Roman"/>
                          <a:sym typeface="Times New Roman"/>
                        </a:rPr>
                        <a:t>2021</a:t>
                      </a:r>
                      <a:r>
                        <a:rPr i="1" lang="en-IN" sz="1200">
                          <a:latin typeface="Times New Roman"/>
                          <a:ea typeface="Times New Roman"/>
                          <a:cs typeface="Times New Roman"/>
                          <a:sym typeface="Times New Roman"/>
                        </a:rPr>
                        <a:t>) </a:t>
                      </a:r>
                      <a:r>
                        <a:rPr lang="en-IN" sz="1200">
                          <a:latin typeface="Times New Roman"/>
                          <a:ea typeface="Times New Roman"/>
                          <a:cs typeface="Times New Roman"/>
                          <a:sym typeface="Times New Roman"/>
                        </a:rPr>
                        <a:t> A. Girkar, M. Khambayat, A. Waghmare, and S. Chaudhary</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Handles audio file slicing, merging, and conversion</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Efficient audio handling for processing speech responses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200">
                          <a:latin typeface="Times New Roman"/>
                          <a:ea typeface="Times New Roman"/>
                          <a:cs typeface="Times New Roman"/>
                          <a:sym typeface="Times New Roman"/>
                        </a:rPr>
                        <a:t>Basic audio analysis only; requires integration with other libraries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36275">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IN" sz="1200">
                          <a:latin typeface="Times New Roman"/>
                          <a:ea typeface="Times New Roman"/>
                          <a:cs typeface="Times New Roman"/>
                          <a:sym typeface="Times New Roman"/>
                        </a:rPr>
                        <a:t>Speech-to-Text and Speech-to-Speech Summarization of Spontaneous Speech [10]   </a:t>
                      </a:r>
                      <a:r>
                        <a:rPr i="1" lang="en-IN" sz="1200">
                          <a:latin typeface="Times New Roman"/>
                          <a:ea typeface="Times New Roman"/>
                          <a:cs typeface="Times New Roman"/>
                          <a:sym typeface="Times New Roman"/>
                        </a:rPr>
                        <a:t>(</a:t>
                      </a:r>
                      <a:r>
                        <a:rPr lang="en-IN" sz="1200">
                          <a:latin typeface="Times New Roman"/>
                          <a:ea typeface="Times New Roman"/>
                          <a:cs typeface="Times New Roman"/>
                          <a:sym typeface="Times New Roman"/>
                        </a:rPr>
                        <a:t>2020</a:t>
                      </a:r>
                      <a:r>
                        <a:rPr i="1" lang="en-IN" sz="1200">
                          <a:latin typeface="Times New Roman"/>
                          <a:ea typeface="Times New Roman"/>
                          <a:cs typeface="Times New Roman"/>
                          <a:sym typeface="Times New Roman"/>
                        </a:rPr>
                        <a:t>) </a:t>
                      </a:r>
                      <a:r>
                        <a:rPr lang="en-IN" sz="1200">
                          <a:latin typeface="Times New Roman"/>
                          <a:ea typeface="Times New Roman"/>
                          <a:cs typeface="Times New Roman"/>
                          <a:sym typeface="Times New Roman"/>
                        </a:rPr>
                        <a:t> S. Furui, T. Kikuchi, Y. Shinnaka, and C. Hori</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Converts speech to Name text and analyzes content using NLP</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Detailed evaluation of clarity and relevance; assesses emotional tone and knowledge </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IN" sz="1200">
                          <a:latin typeface="Times New Roman"/>
                          <a:ea typeface="Times New Roman"/>
                          <a:cs typeface="Times New Roman"/>
                          <a:sym typeface="Times New Roman"/>
                        </a:rPr>
                        <a:t>Accuracy depends on speech recognition; lacks human spontaneity</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7" name="Google Shape;157;p19"/>
          <p:cNvSpPr txBox="1"/>
          <p:nvPr/>
        </p:nvSpPr>
        <p:spPr>
          <a:xfrm>
            <a:off x="4596000" y="2569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LITERATURE REVIEW </a:t>
            </a:r>
            <a:endParaRPr>
              <a:solidFill>
                <a:schemeClr val="dk1"/>
              </a:solidFill>
              <a:latin typeface="Comic Sans MS"/>
              <a:ea typeface="Comic Sans MS"/>
              <a:cs typeface="Comic Sans MS"/>
              <a:sym typeface="Comic Sans MS"/>
            </a:endParaRPr>
          </a:p>
        </p:txBody>
      </p:sp>
      <p:sp>
        <p:nvSpPr>
          <p:cNvPr id="158" name="Google Shape;158;p19"/>
          <p:cNvSpPr txBox="1"/>
          <p:nvPr/>
        </p:nvSpPr>
        <p:spPr>
          <a:xfrm>
            <a:off x="4644588" y="116097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Table No :1 Summary of Literature Review</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idx="1" type="subTitle"/>
          </p:nvPr>
        </p:nvSpPr>
        <p:spPr>
          <a:xfrm>
            <a:off x="174595" y="1133685"/>
            <a:ext cx="11842800" cy="56400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164" name="Google Shape;164;p20"/>
          <p:cNvSpPr txBox="1"/>
          <p:nvPr>
            <p:ph idx="11" type="ftr"/>
          </p:nvPr>
        </p:nvSpPr>
        <p:spPr>
          <a:xfrm>
            <a:off x="1819921" y="6356350"/>
            <a:ext cx="9232777"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65" name="Google Shape;16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66" name="Google Shape;16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67" name="Google Shape;167;p20"/>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168" name="Google Shape;168;p20"/>
          <p:cNvSpPr txBox="1"/>
          <p:nvPr/>
        </p:nvSpPr>
        <p:spPr>
          <a:xfrm>
            <a:off x="320000" y="1732175"/>
            <a:ext cx="11033700" cy="27384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120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Lack of </a:t>
            </a:r>
            <a:r>
              <a:rPr b="1" lang="en-IN" sz="2100">
                <a:solidFill>
                  <a:schemeClr val="dk1"/>
                </a:solidFill>
                <a:latin typeface="Times New Roman"/>
                <a:ea typeface="Times New Roman"/>
                <a:cs typeface="Times New Roman"/>
                <a:sym typeface="Times New Roman"/>
              </a:rPr>
              <a:t>integrated multimodal systems</a:t>
            </a:r>
            <a:r>
              <a:rPr lang="en-IN" sz="2100">
                <a:solidFill>
                  <a:schemeClr val="dk1"/>
                </a:solidFill>
                <a:latin typeface="Times New Roman"/>
                <a:ea typeface="Times New Roman"/>
                <a:cs typeface="Times New Roman"/>
                <a:sym typeface="Times New Roman"/>
              </a:rPr>
              <a:t> (voice + facial + NLP + coding not combined)</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No </a:t>
            </a:r>
            <a:r>
              <a:rPr b="1" lang="en-IN" sz="2100">
                <a:solidFill>
                  <a:schemeClr val="dk1"/>
                </a:solidFill>
                <a:latin typeface="Times New Roman"/>
                <a:ea typeface="Times New Roman"/>
                <a:cs typeface="Times New Roman"/>
                <a:sym typeface="Times New Roman"/>
              </a:rPr>
              <a:t>real-time adaptive feedback</a:t>
            </a:r>
            <a:r>
              <a:rPr lang="en-IN" sz="2100">
                <a:solidFill>
                  <a:schemeClr val="dk1"/>
                </a:solidFill>
                <a:latin typeface="Times New Roman"/>
                <a:ea typeface="Times New Roman"/>
                <a:cs typeface="Times New Roman"/>
                <a:sym typeface="Times New Roman"/>
              </a:rPr>
              <a:t> during interviews</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b="1" lang="en-IN" sz="2100">
                <a:solidFill>
                  <a:schemeClr val="dk1"/>
                </a:solidFill>
                <a:latin typeface="Times New Roman"/>
                <a:ea typeface="Times New Roman"/>
                <a:cs typeface="Times New Roman"/>
                <a:sym typeface="Times New Roman"/>
              </a:rPr>
              <a:t>Generic question generation</a:t>
            </a:r>
            <a:r>
              <a:rPr lang="en-IN" sz="2100">
                <a:solidFill>
                  <a:schemeClr val="dk1"/>
                </a:solidFill>
                <a:latin typeface="Times New Roman"/>
                <a:ea typeface="Times New Roman"/>
                <a:cs typeface="Times New Roman"/>
                <a:sym typeface="Times New Roman"/>
              </a:rPr>
              <a:t>, poor personalization using resume/context</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Incomplete </a:t>
            </a:r>
            <a:r>
              <a:rPr b="1" lang="en-IN" sz="2100">
                <a:solidFill>
                  <a:schemeClr val="dk1"/>
                </a:solidFill>
                <a:latin typeface="Times New Roman"/>
                <a:ea typeface="Times New Roman"/>
                <a:cs typeface="Times New Roman"/>
                <a:sym typeface="Times New Roman"/>
              </a:rPr>
              <a:t>emotion &amp; behavioral analysis</a:t>
            </a:r>
            <a:r>
              <a:rPr lang="en-IN" sz="2100">
                <a:solidFill>
                  <a:schemeClr val="dk1"/>
                </a:solidFill>
                <a:latin typeface="Times New Roman"/>
                <a:ea typeface="Times New Roman"/>
                <a:cs typeface="Times New Roman"/>
                <a:sym typeface="Times New Roman"/>
              </a:rPr>
              <a:t> </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Dependence on </a:t>
            </a:r>
            <a:r>
              <a:rPr b="1" lang="en-IN" sz="2100">
                <a:solidFill>
                  <a:schemeClr val="dk1"/>
                </a:solidFill>
                <a:latin typeface="Times New Roman"/>
                <a:ea typeface="Times New Roman"/>
                <a:cs typeface="Times New Roman"/>
                <a:sym typeface="Times New Roman"/>
              </a:rPr>
              <a:t>static datasets </a:t>
            </a:r>
            <a:endParaRPr b="1"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Absence of </a:t>
            </a:r>
            <a:r>
              <a:rPr b="1" lang="en-IN" sz="2100">
                <a:solidFill>
                  <a:schemeClr val="dk1"/>
                </a:solidFill>
                <a:latin typeface="Times New Roman"/>
                <a:ea typeface="Times New Roman"/>
                <a:cs typeface="Times New Roman"/>
                <a:sym typeface="Times New Roman"/>
              </a:rPr>
              <a:t>realistic interview simulation</a:t>
            </a:r>
            <a:r>
              <a:rPr lang="en-IN" sz="2100">
                <a:solidFill>
                  <a:schemeClr val="dk1"/>
                </a:solidFill>
                <a:latin typeface="Times New Roman"/>
                <a:ea typeface="Times New Roman"/>
                <a:cs typeface="Times New Roman"/>
                <a:sym typeface="Times New Roman"/>
              </a:rPr>
              <a:t> (no human-like interaction)</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latin typeface="Times New Roman"/>
                <a:ea typeface="Times New Roman"/>
                <a:cs typeface="Times New Roman"/>
                <a:sym typeface="Times New Roman"/>
              </a:rPr>
              <a:t>Weak </a:t>
            </a:r>
            <a:r>
              <a:rPr b="1" lang="en-IN" sz="2100">
                <a:solidFill>
                  <a:schemeClr val="dk1"/>
                </a:solidFill>
                <a:latin typeface="Times New Roman"/>
                <a:ea typeface="Times New Roman"/>
                <a:cs typeface="Times New Roman"/>
                <a:sym typeface="Times New Roman"/>
              </a:rPr>
              <a:t>fallback mechanisms</a:t>
            </a:r>
            <a:r>
              <a:rPr lang="en-IN" sz="2100">
                <a:solidFill>
                  <a:schemeClr val="dk1"/>
                </a:solidFill>
                <a:latin typeface="Times New Roman"/>
                <a:ea typeface="Times New Roman"/>
                <a:cs typeface="Times New Roman"/>
                <a:sym typeface="Times New Roman"/>
              </a:rPr>
              <a:t> (fails in mic-off / unexpected scenarios) </a:t>
            </a:r>
            <a:endParaRPr sz="2100">
              <a:solidFill>
                <a:schemeClr val="dk1"/>
              </a:solidFill>
              <a:latin typeface="Times New Roman"/>
              <a:ea typeface="Times New Roman"/>
              <a:cs typeface="Times New Roman"/>
              <a:sym typeface="Times New Roman"/>
            </a:endParaRPr>
          </a:p>
        </p:txBody>
      </p:sp>
      <p:sp>
        <p:nvSpPr>
          <p:cNvPr id="169" name="Google Shape;169;p20"/>
          <p:cNvSpPr txBox="1"/>
          <p:nvPr/>
        </p:nvSpPr>
        <p:spPr>
          <a:xfrm>
            <a:off x="4596000" y="256925"/>
            <a:ext cx="30000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RESEARCH GAPS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1400"/>
              <a:buNone/>
            </a:pPr>
            <a:r>
              <a:rPr lang="en-IN" sz="1400">
                <a:latin typeface="Comic Sans MS"/>
                <a:ea typeface="Comic Sans MS"/>
                <a:cs typeface="Comic Sans MS"/>
                <a:sym typeface="Comic Sans MS"/>
              </a:rPr>
              <a:t> </a:t>
            </a:r>
            <a:endParaRPr sz="1400">
              <a:latin typeface="Comic Sans MS"/>
              <a:ea typeface="Comic Sans MS"/>
              <a:cs typeface="Comic Sans MS"/>
              <a:sym typeface="Comic Sans MS"/>
            </a:endParaRPr>
          </a:p>
        </p:txBody>
      </p:sp>
      <p:sp>
        <p:nvSpPr>
          <p:cNvPr id="175" name="Google Shape;175;p21"/>
          <p:cNvSpPr txBox="1"/>
          <p:nvPr>
            <p:ph idx="11" type="ftr"/>
          </p:nvPr>
        </p:nvSpPr>
        <p:spPr>
          <a:xfrm>
            <a:off x="1748901" y="6356350"/>
            <a:ext cx="9321553"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76" name="Google Shape;17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77" name="Google Shape;17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23-03-2026</a:t>
            </a:r>
            <a:endParaRPr/>
          </a:p>
        </p:txBody>
      </p:sp>
      <p:pic>
        <p:nvPicPr>
          <p:cNvPr id="178" name="Google Shape;178;p21"/>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179" name="Google Shape;179;p21"/>
          <p:cNvSpPr txBox="1"/>
          <p:nvPr/>
        </p:nvSpPr>
        <p:spPr>
          <a:xfrm>
            <a:off x="3952225" y="256925"/>
            <a:ext cx="4914900" cy="51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n-IN" sz="2400">
                <a:solidFill>
                  <a:schemeClr val="dk1"/>
                </a:solidFill>
                <a:latin typeface="Calibri"/>
                <a:ea typeface="Calibri"/>
                <a:cs typeface="Calibri"/>
                <a:sym typeface="Calibri"/>
              </a:rPr>
              <a:t>PROPOSED METHODOLOGY</a:t>
            </a:r>
            <a:endParaRPr>
              <a:solidFill>
                <a:schemeClr val="dk1"/>
              </a:solidFill>
              <a:latin typeface="Comic Sans MS"/>
              <a:ea typeface="Comic Sans MS"/>
              <a:cs typeface="Comic Sans MS"/>
              <a:sym typeface="Comic Sans MS"/>
            </a:endParaRPr>
          </a:p>
        </p:txBody>
      </p:sp>
      <p:sp>
        <p:nvSpPr>
          <p:cNvPr id="180" name="Google Shape;180;p21"/>
          <p:cNvSpPr txBox="1"/>
          <p:nvPr/>
        </p:nvSpPr>
        <p:spPr>
          <a:xfrm>
            <a:off x="320000" y="1238250"/>
            <a:ext cx="3261300" cy="40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t/>
            </a:r>
            <a:endParaRPr>
              <a:solidFill>
                <a:schemeClr val="dk1"/>
              </a:solidFill>
            </a:endParaRPr>
          </a:p>
        </p:txBody>
      </p:sp>
      <p:pic>
        <p:nvPicPr>
          <p:cNvPr id="181" name="Google Shape;181;p21" title="PrepSmartly (1).png"/>
          <p:cNvPicPr preferRelativeResize="0"/>
          <p:nvPr/>
        </p:nvPicPr>
        <p:blipFill rotWithShape="1">
          <a:blip r:embed="rId4">
            <a:alphaModFix/>
          </a:blip>
          <a:srcRect b="6253" l="2449" r="0" t="7016"/>
          <a:stretch/>
        </p:blipFill>
        <p:spPr>
          <a:xfrm>
            <a:off x="1000275" y="1238250"/>
            <a:ext cx="10451376" cy="5034925"/>
          </a:xfrm>
          <a:prstGeom prst="rect">
            <a:avLst/>
          </a:prstGeom>
          <a:noFill/>
          <a:ln>
            <a:noFill/>
          </a:ln>
        </p:spPr>
      </p:pic>
      <p:sp>
        <p:nvSpPr>
          <p:cNvPr id="182" name="Google Shape;182;p21"/>
          <p:cNvSpPr txBox="1"/>
          <p:nvPr/>
        </p:nvSpPr>
        <p:spPr>
          <a:xfrm>
            <a:off x="4725963" y="59714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Fig 1: Architecture of PrepSmartly</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RESULTS AND DISCUSSION</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188" name="Google Shape;188;p22"/>
          <p:cNvSpPr txBox="1"/>
          <p:nvPr>
            <p:ph idx="11" type="ftr"/>
          </p:nvPr>
        </p:nvSpPr>
        <p:spPr>
          <a:xfrm>
            <a:off x="1819921" y="6356350"/>
            <a:ext cx="9232777"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189" name="Google Shape;18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90" name="Google Shape;19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191" name="Google Shape;191;p22"/>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pic>
        <p:nvPicPr>
          <p:cNvPr id="192" name="Google Shape;192;p22"/>
          <p:cNvPicPr preferRelativeResize="0"/>
          <p:nvPr/>
        </p:nvPicPr>
        <p:blipFill>
          <a:blip r:embed="rId4">
            <a:alphaModFix/>
          </a:blip>
          <a:stretch>
            <a:fillRect/>
          </a:stretch>
        </p:blipFill>
        <p:spPr>
          <a:xfrm>
            <a:off x="2265889" y="2151925"/>
            <a:ext cx="7660225" cy="3873950"/>
          </a:xfrm>
          <a:prstGeom prst="rect">
            <a:avLst/>
          </a:prstGeom>
          <a:noFill/>
          <a:ln>
            <a:noFill/>
          </a:ln>
        </p:spPr>
      </p:pic>
      <p:sp>
        <p:nvSpPr>
          <p:cNvPr id="193" name="Google Shape;193;p22"/>
          <p:cNvSpPr txBox="1"/>
          <p:nvPr/>
        </p:nvSpPr>
        <p:spPr>
          <a:xfrm>
            <a:off x="5187000" y="6025875"/>
            <a:ext cx="1818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Fig 2: Live Interview</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174595" y="1218010"/>
            <a:ext cx="11842800" cy="56400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RESULTS AND DISCUSSION</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199" name="Google Shape;199;p23"/>
          <p:cNvSpPr txBox="1"/>
          <p:nvPr>
            <p:ph idx="11" type="ftr"/>
          </p:nvPr>
        </p:nvSpPr>
        <p:spPr>
          <a:xfrm>
            <a:off x="1819921" y="6356350"/>
            <a:ext cx="9232800" cy="365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200" name="Google Shape;200;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01" name="Google Shape;201;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202" name="Google Shape;202;p23"/>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pic>
        <p:nvPicPr>
          <p:cNvPr id="203" name="Google Shape;203;p23"/>
          <p:cNvPicPr preferRelativeResize="0"/>
          <p:nvPr/>
        </p:nvPicPr>
        <p:blipFill>
          <a:blip r:embed="rId4">
            <a:alphaModFix/>
          </a:blip>
          <a:stretch>
            <a:fillRect/>
          </a:stretch>
        </p:blipFill>
        <p:spPr>
          <a:xfrm>
            <a:off x="2382500" y="2240600"/>
            <a:ext cx="8107649" cy="3758201"/>
          </a:xfrm>
          <a:prstGeom prst="rect">
            <a:avLst/>
          </a:prstGeom>
          <a:noFill/>
          <a:ln>
            <a:noFill/>
          </a:ln>
        </p:spPr>
      </p:pic>
      <p:sp>
        <p:nvSpPr>
          <p:cNvPr id="204" name="Google Shape;204;p23"/>
          <p:cNvSpPr txBox="1"/>
          <p:nvPr/>
        </p:nvSpPr>
        <p:spPr>
          <a:xfrm>
            <a:off x="5505050" y="5998800"/>
            <a:ext cx="2091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300">
                <a:solidFill>
                  <a:schemeClr val="dk1"/>
                </a:solidFill>
                <a:latin typeface="Calibri"/>
                <a:ea typeface="Calibri"/>
                <a:cs typeface="Calibri"/>
                <a:sym typeface="Calibri"/>
              </a:rPr>
              <a:t>Fig 3: Live Coding</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COMPARATIVE ANALYSIS</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210" name="Google Shape;210;p24"/>
          <p:cNvSpPr txBox="1"/>
          <p:nvPr>
            <p:ph idx="11" type="ftr"/>
          </p:nvPr>
        </p:nvSpPr>
        <p:spPr>
          <a:xfrm>
            <a:off x="1775533" y="6356350"/>
            <a:ext cx="9277165"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211" name="Google Shape;21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12" name="Google Shape;2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213" name="Google Shape;213;p24"/>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pic>
        <p:nvPicPr>
          <p:cNvPr id="214" name="Google Shape;214;p24"/>
          <p:cNvPicPr preferRelativeResize="0"/>
          <p:nvPr/>
        </p:nvPicPr>
        <p:blipFill rotWithShape="1">
          <a:blip r:embed="rId4">
            <a:alphaModFix/>
          </a:blip>
          <a:srcRect b="13229" l="19960" r="23060" t="30692"/>
          <a:stretch/>
        </p:blipFill>
        <p:spPr>
          <a:xfrm>
            <a:off x="1204425" y="2691600"/>
            <a:ext cx="4483725" cy="2524125"/>
          </a:xfrm>
          <a:prstGeom prst="rect">
            <a:avLst/>
          </a:prstGeom>
          <a:noFill/>
          <a:ln>
            <a:noFill/>
          </a:ln>
        </p:spPr>
      </p:pic>
      <p:graphicFrame>
        <p:nvGraphicFramePr>
          <p:cNvPr id="215" name="Google Shape;215;p24"/>
          <p:cNvGraphicFramePr/>
          <p:nvPr/>
        </p:nvGraphicFramePr>
        <p:xfrm>
          <a:off x="6943850" y="2420125"/>
          <a:ext cx="3000000" cy="3000000"/>
        </p:xfrm>
        <a:graphic>
          <a:graphicData uri="http://schemas.openxmlformats.org/drawingml/2006/table">
            <a:tbl>
              <a:tblPr>
                <a:noFill/>
                <a:tableStyleId>{2417ABC9-03DB-49DB-913E-264A4F552824}</a:tableStyleId>
              </a:tblPr>
              <a:tblGrid>
                <a:gridCol w="1133475"/>
                <a:gridCol w="1085850"/>
                <a:gridCol w="1000125"/>
                <a:gridCol w="1114425"/>
              </a:tblGrid>
              <a:tr h="216000">
                <a:tc>
                  <a:txBody>
                    <a:bodyPr/>
                    <a:lstStyle/>
                    <a:p>
                      <a:pPr indent="0" lvl="0" marL="0" rtl="0" algn="ctr">
                        <a:lnSpc>
                          <a:spcPct val="140000"/>
                        </a:lnSpc>
                        <a:spcBef>
                          <a:spcPts val="1200"/>
                        </a:spcBef>
                        <a:spcAft>
                          <a:spcPts val="1200"/>
                        </a:spcAft>
                        <a:buNone/>
                      </a:pPr>
                      <a:r>
                        <a:rPr b="1" lang="en-IN" sz="1200">
                          <a:latin typeface="Times New Roman"/>
                          <a:ea typeface="Times New Roman"/>
                          <a:cs typeface="Times New Roman"/>
                          <a:sym typeface="Times New Roman"/>
                        </a:rPr>
                        <a:t>Actual \ Predicted</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b="1" lang="en-IN" sz="1200">
                          <a:latin typeface="Times New Roman"/>
                          <a:ea typeface="Times New Roman"/>
                          <a:cs typeface="Times New Roman"/>
                          <a:sym typeface="Times New Roman"/>
                        </a:rPr>
                        <a:t>Confident</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b="1" lang="en-IN" sz="1200">
                          <a:latin typeface="Times New Roman"/>
                          <a:ea typeface="Times New Roman"/>
                          <a:cs typeface="Times New Roman"/>
                          <a:sym typeface="Times New Roman"/>
                        </a:rPr>
                        <a:t>Nervous</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b="1" lang="en-IN" sz="1200">
                          <a:latin typeface="Times New Roman"/>
                          <a:ea typeface="Times New Roman"/>
                          <a:cs typeface="Times New Roman"/>
                          <a:sym typeface="Times New Roman"/>
                        </a:rPr>
                        <a:t>Hesitant</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6000">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Confident</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112</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6000">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Nervous</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109</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6000">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Hesitant</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7</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102</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4650">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Neutral</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7</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40000"/>
                        </a:lnSpc>
                        <a:spcBef>
                          <a:spcPts val="1200"/>
                        </a:spcBef>
                        <a:spcAft>
                          <a:spcPts val="1200"/>
                        </a:spcAft>
                        <a:buNone/>
                      </a:pPr>
                      <a:r>
                        <a:rPr lang="en-IN"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16" name="Google Shape;216;p24"/>
          <p:cNvSpPr txBox="1"/>
          <p:nvPr/>
        </p:nvSpPr>
        <p:spPr>
          <a:xfrm>
            <a:off x="7192113" y="1829125"/>
            <a:ext cx="3979500" cy="591000"/>
          </a:xfrm>
          <a:prstGeom prst="rect">
            <a:avLst/>
          </a:prstGeom>
          <a:noFill/>
          <a:ln>
            <a:noFill/>
          </a:ln>
        </p:spPr>
        <p:txBody>
          <a:bodyPr anchorCtr="0" anchor="t" bIns="91425" lIns="91425" spcFirstLastPara="1" rIns="91425" wrap="square" tIns="91425">
            <a:spAutoFit/>
          </a:bodyPr>
          <a:lstStyle/>
          <a:p>
            <a:pPr indent="180000" lvl="0" marL="0" rtl="0" algn="ctr">
              <a:lnSpc>
                <a:spcPct val="140000"/>
              </a:lnSpc>
              <a:spcBef>
                <a:spcPts val="1200"/>
              </a:spcBef>
              <a:spcAft>
                <a:spcPts val="1200"/>
              </a:spcAft>
              <a:buClr>
                <a:schemeClr val="dk1"/>
              </a:buClr>
              <a:buSzPts val="1100"/>
              <a:buFont typeface="Arial"/>
              <a:buNone/>
            </a:pPr>
            <a:r>
              <a:rPr lang="en-IN" sz="1100">
                <a:solidFill>
                  <a:schemeClr val="dk1"/>
                </a:solidFill>
                <a:latin typeface="Times New Roman"/>
                <a:ea typeface="Times New Roman"/>
                <a:cs typeface="Times New Roman"/>
                <a:sym typeface="Times New Roman"/>
              </a:rPr>
              <a:t>Table 2 - Confusion Matrix Analysis of Behavioral Expression Classification</a:t>
            </a:r>
            <a:endParaRPr sz="1100">
              <a:solidFill>
                <a:schemeClr val="dk1"/>
              </a:solidFill>
              <a:latin typeface="Times New Roman"/>
              <a:ea typeface="Times New Roman"/>
              <a:cs typeface="Times New Roman"/>
              <a:sym typeface="Times New Roman"/>
            </a:endParaRPr>
          </a:p>
        </p:txBody>
      </p:sp>
      <p:sp>
        <p:nvSpPr>
          <p:cNvPr id="217" name="Google Shape;217;p24"/>
          <p:cNvSpPr txBox="1"/>
          <p:nvPr/>
        </p:nvSpPr>
        <p:spPr>
          <a:xfrm>
            <a:off x="1356400" y="5424675"/>
            <a:ext cx="3979500" cy="354000"/>
          </a:xfrm>
          <a:prstGeom prst="rect">
            <a:avLst/>
          </a:prstGeom>
          <a:noFill/>
          <a:ln>
            <a:noFill/>
          </a:ln>
        </p:spPr>
        <p:txBody>
          <a:bodyPr anchorCtr="0" anchor="t" bIns="91425" lIns="91425" spcFirstLastPara="1" rIns="91425" wrap="square" tIns="91425">
            <a:spAutoFit/>
          </a:bodyPr>
          <a:lstStyle/>
          <a:p>
            <a:pPr indent="180000" lvl="0" marL="0" rtl="0" algn="ctr">
              <a:lnSpc>
                <a:spcPct val="140000"/>
              </a:lnSpc>
              <a:spcBef>
                <a:spcPts val="1200"/>
              </a:spcBef>
              <a:spcAft>
                <a:spcPts val="1200"/>
              </a:spcAft>
              <a:buClr>
                <a:schemeClr val="dk1"/>
              </a:buClr>
              <a:buSzPts val="1100"/>
              <a:buFont typeface="Arial"/>
              <a:buNone/>
            </a:pPr>
            <a:r>
              <a:rPr lang="en-IN" sz="1100">
                <a:solidFill>
                  <a:schemeClr val="dk1"/>
                </a:solidFill>
                <a:latin typeface="Times New Roman"/>
                <a:ea typeface="Times New Roman"/>
                <a:cs typeface="Times New Roman"/>
                <a:sym typeface="Times New Roman"/>
              </a:rPr>
              <a:t> Fig.4 Facial Expression Model Performance Metrics</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b="1"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CONCLUSION AND FUTURE WORK</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223" name="Google Shape;223;p25"/>
          <p:cNvSpPr txBox="1"/>
          <p:nvPr>
            <p:ph idx="11" type="ftr"/>
          </p:nvPr>
        </p:nvSpPr>
        <p:spPr>
          <a:xfrm>
            <a:off x="1784412" y="6356350"/>
            <a:ext cx="9197266"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224" name="Google Shape;22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25" name="Google Shape;22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226" name="Google Shape;226;p25"/>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227" name="Google Shape;227;p25"/>
          <p:cNvSpPr txBox="1"/>
          <p:nvPr/>
        </p:nvSpPr>
        <p:spPr>
          <a:xfrm>
            <a:off x="1066350" y="2011688"/>
            <a:ext cx="10059300" cy="4509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PrepSmartly overcomes the limitations of traditional interview preparation by providing a realistic and adaptive AI-driven simulation system. It combines real-time feedback, dual LLM evaluation, and multimodal analysis using technologies like MediaPipe and Deepgram to assess candidates across technical, communication, and behavioral aspects, while ensuring data privacy through a secure architecture.</a:t>
            </a:r>
            <a:endParaRPr sz="18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In the future, the system can be enhanced with more advanced AI models for better question generation and evaluation, along with improved multimodal analysis such as posture and gesture tracking. It can also include personalized learning recommendations, multilingual support, job portal integration, and immersive technologies like Virtual Reality to create a more effective and realistic interview experience.</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idx="1" type="subTitle"/>
          </p:nvPr>
        </p:nvSpPr>
        <p:spPr>
          <a:xfrm>
            <a:off x="174595" y="1133685"/>
            <a:ext cx="11842810" cy="563997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REFERENCES</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233" name="Google Shape;233;p26"/>
          <p:cNvSpPr txBox="1"/>
          <p:nvPr>
            <p:ph idx="11" type="ftr"/>
          </p:nvPr>
        </p:nvSpPr>
        <p:spPr>
          <a:xfrm>
            <a:off x="1873188" y="6356350"/>
            <a:ext cx="9099612" cy="3651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234" name="Google Shape;23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35" name="Google Shape;23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236" name="Google Shape;236;p26"/>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237" name="Google Shape;237;p26"/>
          <p:cNvSpPr txBox="1"/>
          <p:nvPr/>
        </p:nvSpPr>
        <p:spPr>
          <a:xfrm>
            <a:off x="1076850" y="1883750"/>
            <a:ext cx="10038300" cy="5128800"/>
          </a:xfrm>
          <a:prstGeom prst="rect">
            <a:avLst/>
          </a:prstGeom>
          <a:noFill/>
          <a:ln>
            <a:noFill/>
          </a:ln>
        </p:spPr>
        <p:txBody>
          <a:bodyPr anchorCtr="0" anchor="t" bIns="91425" lIns="91425" spcFirstLastPara="1" rIns="91425" wrap="square" tIns="91425">
            <a:spAutoFit/>
          </a:bodyPr>
          <a:lstStyle/>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[1] R. Shirbhate, H. Kulkarni, N. Bidaye, and S. Kangude, AI-Based Mock Interview Simulation System for Job Preparation, International Research Journal, 2025, pp. 858–863.</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[2] B. D. Simon, B. Ozyoruk, D. G. Gelikman, S. A. Harmon,    and B. Türkbey, The Future of Multimodal Artificial Intelligence Models for Integrating Imaging and Clinical Metadata: A Narrative Review, Journal of Multimodal AI Research, 2025, pp. 303–312.</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[3] D. Anwat, P. Derle, P. Nagare, and H. R. Agashe, Facial  Expression and Sound Analysis for Interview Assessment: An AI-Based Application, International Journal Publication, 1st Edition, 2024, pp. 269–278.</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[4] T. Kopalidis, V. Solachidis, N. Vretos, and P. Daras, Advances in Facial Expression Recognition: A Survey of Methods, Benchmarks, Models, and Datasets, IEEE Transactions on Affective Computing, 2024, pp. 1–61.</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[5]  K. K. Jain, R. S. R., G. R. S. Charan, and V. A. Narayana, AI Interviewer Chatbot for Technical and HR Brilliance: A Tool for Upskilling Candidate, International Journal of Engineering Research &amp; Technology (IJERT), 2024.</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[6] S. Mahajan, N. Sonawane, R. Bagal, S. Kulkarni, A. Suryawanshi, and Y. Mhaisne, Generative AI-Based Interview Simulation and Performance Analysis, International Research Journal of Modernization in Engineering Technology and Science, 2024, pp. 2623–2629.</a:t>
            </a:r>
            <a:endParaRPr>
              <a:solidFill>
                <a:schemeClr val="dk1"/>
              </a:solidFill>
              <a:latin typeface="Times New Roman"/>
              <a:ea typeface="Times New Roman"/>
              <a:cs typeface="Times New Roman"/>
              <a:sym typeface="Times New Roman"/>
            </a:endParaRPr>
          </a:p>
          <a:p>
            <a:pPr indent="-180000" lvl="0" marL="180000" rtl="0" algn="just">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idx="1" type="subTitle"/>
          </p:nvPr>
        </p:nvSpPr>
        <p:spPr>
          <a:xfrm>
            <a:off x="174595" y="1006310"/>
            <a:ext cx="11842800" cy="56400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400"/>
              <a:buNone/>
            </a:pPr>
            <a:r>
              <a:t/>
            </a:r>
            <a:endParaRPr sz="1400">
              <a:latin typeface="Comic Sans MS"/>
              <a:ea typeface="Comic Sans MS"/>
              <a:cs typeface="Comic Sans MS"/>
              <a:sym typeface="Comic Sans MS"/>
            </a:endParaRPr>
          </a:p>
          <a:p>
            <a:pPr indent="0" lvl="0" marL="0" rtl="0" algn="ctr">
              <a:lnSpc>
                <a:spcPct val="90000"/>
              </a:lnSpc>
              <a:spcBef>
                <a:spcPts val="1000"/>
              </a:spcBef>
              <a:spcAft>
                <a:spcPts val="0"/>
              </a:spcAft>
              <a:buClr>
                <a:schemeClr val="dk1"/>
              </a:buClr>
              <a:buSzPts val="2400"/>
              <a:buNone/>
            </a:pPr>
            <a:r>
              <a:rPr b="1" lang="en-IN">
                <a:solidFill>
                  <a:schemeClr val="dk1"/>
                </a:solidFill>
                <a:latin typeface="Calibri"/>
                <a:ea typeface="Calibri"/>
                <a:cs typeface="Calibri"/>
                <a:sym typeface="Calibri"/>
              </a:rPr>
              <a:t>REFERENCES</a:t>
            </a:r>
            <a:endParaRPr>
              <a:latin typeface="Calibri"/>
              <a:ea typeface="Calibri"/>
              <a:cs typeface="Calibri"/>
              <a:sym typeface="Calibri"/>
            </a:endParaRPr>
          </a:p>
          <a:p>
            <a:pPr indent="0" lvl="0" marL="0" rtl="0" algn="ctr">
              <a:lnSpc>
                <a:spcPct val="90000"/>
              </a:lnSpc>
              <a:spcBef>
                <a:spcPts val="1000"/>
              </a:spcBef>
              <a:spcAft>
                <a:spcPts val="0"/>
              </a:spcAft>
              <a:buClr>
                <a:schemeClr val="dk1"/>
              </a:buClr>
              <a:buSzPts val="1400"/>
              <a:buNone/>
            </a:pPr>
            <a:r>
              <a:t/>
            </a:r>
            <a:endParaRPr sz="1400">
              <a:latin typeface="Comic Sans MS"/>
              <a:ea typeface="Comic Sans MS"/>
              <a:cs typeface="Comic Sans MS"/>
              <a:sym typeface="Comic Sans MS"/>
            </a:endParaRPr>
          </a:p>
        </p:txBody>
      </p:sp>
      <p:sp>
        <p:nvSpPr>
          <p:cNvPr id="243" name="Google Shape;243;p27"/>
          <p:cNvSpPr txBox="1"/>
          <p:nvPr>
            <p:ph idx="11" type="ftr"/>
          </p:nvPr>
        </p:nvSpPr>
        <p:spPr>
          <a:xfrm>
            <a:off x="1873188" y="6356350"/>
            <a:ext cx="9099600" cy="365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7030A0"/>
              </a:buClr>
              <a:buSzPts val="2000"/>
              <a:buNone/>
            </a:pPr>
            <a:r>
              <a:rPr b="1" lang="en-IN">
                <a:solidFill>
                  <a:schemeClr val="accent2"/>
                </a:solidFill>
                <a:latin typeface="Calibri"/>
                <a:ea typeface="Calibri"/>
                <a:cs typeface="Calibri"/>
                <a:sym typeface="Calibri"/>
              </a:rPr>
              <a:t>Interdisciplinary Insights and Practices for Sustainable Growth</a:t>
            </a:r>
            <a:r>
              <a:rPr lang="en-IN">
                <a:solidFill>
                  <a:schemeClr val="accent2"/>
                </a:solidFill>
                <a:latin typeface="Calibri"/>
                <a:ea typeface="Calibri"/>
                <a:cs typeface="Calibri"/>
                <a:sym typeface="Calibri"/>
              </a:rPr>
              <a:t> </a:t>
            </a:r>
            <a:r>
              <a:rPr b="1" lang="en-IN">
                <a:solidFill>
                  <a:schemeClr val="accent2"/>
                </a:solidFill>
                <a:latin typeface="Calibri"/>
                <a:ea typeface="Calibri"/>
                <a:cs typeface="Calibri"/>
                <a:sym typeface="Calibri"/>
              </a:rPr>
              <a:t>(I3PSG 2026)</a:t>
            </a:r>
            <a:endParaRPr>
              <a:solidFill>
                <a:schemeClr val="accent2"/>
              </a:solidFill>
              <a:latin typeface="Calibri"/>
              <a:ea typeface="Calibri"/>
              <a:cs typeface="Calibri"/>
              <a:sym typeface="Calibri"/>
            </a:endParaRPr>
          </a:p>
        </p:txBody>
      </p:sp>
      <p:sp>
        <p:nvSpPr>
          <p:cNvPr id="244" name="Google Shape;244;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45" name="Google Shape;245;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02-04-2026</a:t>
            </a:r>
            <a:endParaRPr/>
          </a:p>
        </p:txBody>
      </p:sp>
      <p:pic>
        <p:nvPicPr>
          <p:cNvPr id="246" name="Google Shape;246;p27"/>
          <p:cNvPicPr preferRelativeResize="0"/>
          <p:nvPr/>
        </p:nvPicPr>
        <p:blipFill rotWithShape="1">
          <a:blip r:embed="rId3">
            <a:alphaModFix/>
          </a:blip>
          <a:srcRect b="0" l="0" r="0" t="0"/>
          <a:stretch/>
        </p:blipFill>
        <p:spPr>
          <a:xfrm>
            <a:off x="319995" y="24750"/>
            <a:ext cx="1036410" cy="981541"/>
          </a:xfrm>
          <a:prstGeom prst="rect">
            <a:avLst/>
          </a:prstGeom>
          <a:noFill/>
          <a:ln>
            <a:noFill/>
          </a:ln>
        </p:spPr>
      </p:pic>
      <p:sp>
        <p:nvSpPr>
          <p:cNvPr id="247" name="Google Shape;247;p27"/>
          <p:cNvSpPr txBox="1"/>
          <p:nvPr/>
        </p:nvSpPr>
        <p:spPr>
          <a:xfrm>
            <a:off x="1076850" y="1627850"/>
            <a:ext cx="10038300" cy="5530500"/>
          </a:xfrm>
          <a:prstGeom prst="rect">
            <a:avLst/>
          </a:prstGeom>
          <a:noFill/>
          <a:ln>
            <a:noFill/>
          </a:ln>
        </p:spPr>
        <p:txBody>
          <a:bodyPr anchorCtr="0" anchor="t" bIns="91425" lIns="91425" spcFirstLastPara="1" rIns="91425" wrap="square" tIns="91425">
            <a:spAutoFit/>
          </a:bodyPr>
          <a:lstStyle/>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[7] O. S. Ekundayo and S. Viriri, Facial Expression Recognition: A Review of Trends and Techniques, IEEE Journal, 2023, pp. 44–73.</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[8] H. R. Agashe, D. Anwat, P. Derle, P. Nagare, and S. Dhavale, AI-Based Mock Interview Evaluator and Analysis: To Analyse Emotion, Confidence, and Knowledge, International Journal of Advanced Research in Science, Communication and Technology (IJARSCT), 2023, pp. 273–276.</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[9] A. Girkar, M. Khambayat, A. Waghmare, and S. Chaudhary, Subjective Answer Evaluation using Natural Language Processing and Machine Learning, International Research Journal of Engineering and Technology (IRJET), 2021, pp. 5040–5043.</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[10] S. Furui, T. Kikuchi, Y. Shinnaka, and C. Hori, Speech-to-Text and Speech-to-Speech Summarization of Spontaneous Speech, IEEE Transactions on Speech and Audio Processing, 2020, pp. 401–408.</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[11] H. Ahlawat, N. Aggarwal, and D. Gupta, Automatic Speech Recognition: A Survey of Deep Learning Techniques and Approaches, International Journal of Cognitive Computing in Engineering, vol. 6, 2025, pp. 201–237.</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[12] R. Sapkota, S. Raza, M. Shoman, A. Paudel, and M. Karkee, Multimodal Large Language Models for Image, Text, and Speech Data Augmentation: A Survey, ACM Computing Surveys, 2025, pp. 1–52.</a:t>
            </a:r>
            <a:endParaRPr>
              <a:solidFill>
                <a:schemeClr val="dk1"/>
              </a:solidFill>
              <a:latin typeface="Times New Roman"/>
              <a:ea typeface="Times New Roman"/>
              <a:cs typeface="Times New Roman"/>
              <a:sym typeface="Times New Roman"/>
            </a:endParaRPr>
          </a:p>
          <a:p>
            <a:pPr indent="-180000" lvl="0" marL="180000" rtl="0" algn="just">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180000" lvl="0" marL="180000" rtl="0" algn="just">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